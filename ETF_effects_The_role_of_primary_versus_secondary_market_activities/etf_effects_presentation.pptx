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a92a72b-61a9-2074-d1e7-c075134229a2}">
          <p14:sldIdLst>
            <p14:sldId id="256"/>
            <p14:sldId id="257"/>
            <p14:sldId id="258"/>
            <p14:sldId id="259"/>
          </p14:sldIdLst>
        </p14:section>
        <p14:section name="The paper" id="{a1c31d9b-931d-93a9-a21e-8404023c3f29}">
          <p14:sldIdLst>
            <p14:sldId id="260"/>
            <p14:sldId id="261"/>
            <p14:sldId id="262"/>
            <p14:sldId id="263"/>
            <p14:sldId id="264"/>
            <p14:sldId id="265"/>
            <p14:sldId id="266"/>
            <p14:sldId id="267"/>
            <p14:sldId id="268"/>
          </p14:sldIdLst>
        </p14:section>
        <p14:section name="Our replication" id="{e986c59c-f3f2-981a-178e-ff54af37cc38}">
          <p14:sldIdLst>
            <p14:sldId id="269"/>
            <p14:sldId id="270"/>
            <p14:sldId id="271"/>
          </p14:sldIdLst>
        </p14:section>
        <p14:section name="Discussion" id="{85ae81ce-07e0-33ff-179e-a5ac6101a0e2}">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74151"/>
                </a:solidFill>
                <a:latin typeface="+mn-lt"/>
              </a:defRPr>
            </a:pPr>
            <a:r>
              <a:rPr sz="1400" b="0" i="0" u="none" strike="noStrike">
                <a:solidFill>
                  <a:srgbClr val="374151"/>
                </a:solidFill>
                <a:latin typeface="+mn-lt"/>
              </a:rPr>
              <a:t>Average quoted spread, 2015 (bps)</a:t>
            </a:r>
          </a:p>
        </c:rich>
      </c:tx>
      <c:layout/>
      <c:overlay val="0"/>
    </c:title>
    <c:autoTitleDeleted val="0"/>
    <c:plotArea>
      <c:layout/>
      <c:barChart>
        <c:barDir val="col"/>
        <c:grouping val="clustered"/>
        <c:varyColors val="0"/>
        <c:ser>
          <c:idx val="0"/>
          <c:order val="0"/>
          <c:tx>
            <c:strRef>
              <c:f>Sheet1!$B$1</c:f>
              <c:strCache>
                <c:ptCount val="1"/>
                <c:pt idx="0">
                  <c:v>Quoted spread (bps)</c:v>
                </c:pt>
              </c:strCache>
            </c:strRef>
          </c:tx>
          <c:spPr>
            <a:solidFill>
              <a:srgbClr val="2A78D6"/>
            </a:solidFill>
            <a:effectLst/>
          </c:spPr>
          <c:invertIfNegative val="0"/>
          <c:dLbls>
            <c:numFmt formatCode="0.00&quot; bps&quot;" sourceLinked="0"/>
            <c:txPr>
              <a:bodyPr/>
              <a:lstStyle/>
              <a:p>
                <a:pPr>
                  <a:defRPr b="0" i="0" strike="noStrike" sz="1300" u="none">
                    <a:solidFill>
                      <a:srgbClr val="1B1F2A"/>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B6834"/>
              </a:solidFill>
              <a:effectLst/>
            </c:spPr>
          </c:dPt>
          <c:cat>
            <c:multiLvlStrRef>
              <c:f>Sheet1!$A$2:$A$3</c:f>
              <c:multiLvlStrCache>
                <c:ptCount val="2"/>
                <c:lvl>
                  <c:pt idx="0">
                    <c:v>Lyxor CAC 40 ETF</c:v>
                  </c:pt>
                  <c:pt idx="1">
                    <c:v>CAC 40 basket (index-weighted)</c:v>
                  </c:pt>
                </c:lvl>
              </c:multiLvlStrCache>
            </c:multiLvlStrRef>
          </c:cat>
          <c:val>
            <c:numRef>
              <c:f>Sheet1!$B$2:$B$3</c:f>
              <c:numCache>
                <c:formatCode>General</c:formatCode>
                <c:ptCount val="2"/>
                <c:pt idx="0">
                  <c:v>2.58</c:v>
                </c:pt>
                <c:pt idx="1">
                  <c:v>4.74</c:v>
                </c:pt>
              </c:numCache>
            </c:numRef>
          </c:val>
        </c:ser>
        <c:dLbls>
          <c:numFmt formatCode="0.00&quot; bps&quot;" sourceLinked="0"/>
          <c:txPr>
            <a:bodyPr/>
            <a:lstStyle/>
            <a:p>
              <a:pPr>
                <a:defRPr b="0" i="0" strike="noStrike" sz="1300" u="none">
                  <a:solidFill>
                    <a:srgbClr val="1B1F2A"/>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74151"/>
                </a:solidFill>
                <a:latin typeface="+mn-lt"/>
              </a:defRPr>
            </a:pPr>
            <a:r>
              <a:rPr sz="1400" b="0" i="0" u="none" strike="noStrike">
                <a:solidFill>
                  <a:srgbClr val="374151"/>
                </a:solidFill>
                <a:latin typeface="+mn-lt"/>
              </a:rPr>
              <a:t>Effect of an average BoJ-driven AP purchase, % of sample mean</a:t>
            </a:r>
          </a:p>
        </c:rich>
      </c:tx>
      <c:layout/>
      <c:overlay val="0"/>
    </c:title>
    <c:autoTitleDeleted val="0"/>
    <c:plotArea>
      <c:layout/>
      <c:barChart>
        <c:barDir val="bar"/>
        <c:grouping val="clustered"/>
        <c:varyColors val="0"/>
        <c:ser>
          <c:idx val="0"/>
          <c:order val="0"/>
          <c:tx>
            <c:strRef>
              <c:f>Sheet1!$B$1</c:f>
              <c:strCache>
                <c:ptCount val="1"/>
                <c:pt idx="0">
                  <c:v>Effect, % of mean</c:v>
                </c:pt>
              </c:strCache>
            </c:strRef>
          </c:tx>
          <c:spPr>
            <a:solidFill>
              <a:srgbClr val="EB6834"/>
            </a:solidFill>
            <a:effectLst/>
          </c:spPr>
          <c:invertIfNegative val="0"/>
          <c:dLbls>
            <c:numFmt formatCode="+0.0&quot;%&quot;;-0.0&quot;%&quot;" sourceLinked="0"/>
            <c:txPr>
              <a:bodyPr/>
              <a:lstStyle/>
              <a:p>
                <a:pPr>
                  <a:defRPr b="0" i="0" strike="noStrike" sz="1300" u="none">
                    <a:solidFill>
                      <a:srgbClr val="1B1F2A"/>
                    </a:solidFill>
                    <a:latin typeface="+mn-lt"/>
                  </a:defRPr>
                </a:pPr>
              </a:p>
            </c:txPr>
            <c:showLegendKey val="0"/>
            <c:showVal val="1"/>
            <c:showCatName val="0"/>
            <c:showSerName val="0"/>
            <c:showPercent val="0"/>
            <c:showBubbleSize val="0"/>
            <c:showLeaderLines val="0"/>
          </c:dLbls>
          <c:cat>
            <c:multiLvlStrRef>
              <c:f>Sheet1!$A$2:$A$5</c:f>
              <c:multiLvlStrCache>
                <c:ptCount val="4"/>
                <c:lvl>
                  <c:pt idx="0">
                    <c:v>Return</c:v>
                  </c:pt>
                  <c:pt idx="1">
                    <c:v>Volatility</c:v>
                  </c:pt>
                  <c:pt idx="2">
                    <c:v>Quoted spread</c:v>
                  </c:pt>
                  <c:pt idx="3">
                    <c:v>Depth</c:v>
                  </c:pt>
                </c:lvl>
              </c:multiLvlStrCache>
            </c:multiLvlStrRef>
          </c:cat>
          <c:val>
            <c:numRef>
              <c:f>Sheet1!$B$2:$B$5</c:f>
              <c:numCache>
                <c:formatCode>General</c:formatCode>
                <c:ptCount val="4"/>
                <c:pt idx="0">
                  <c:v>7.8</c:v>
                </c:pt>
                <c:pt idx="1">
                  <c:v>1.5</c:v>
                </c:pt>
                <c:pt idx="2">
                  <c:v>1.8</c:v>
                </c:pt>
                <c:pt idx="3">
                  <c:v>-5.9</c:v>
                </c:pt>
              </c:numCache>
            </c:numRef>
          </c:val>
        </c:ser>
        <c:dLbls>
          <c:numFmt formatCode="+0.0&quot;%&quot;;-0.0&quot;%&quot;" sourceLinked="0"/>
          <c:txPr>
            <a:bodyPr/>
            <a:lstStyle/>
            <a:p>
              <a:pPr>
                <a:defRPr b="0" i="0" strike="noStrike" sz="1300" u="none">
                  <a:solidFill>
                    <a:srgbClr val="1B1F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10"/>
          <c:min val="-8"/>
        </c:scaling>
        <c:delete val="1"/>
        <c:axPos val="b"/>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reviews Comerton-Forde and Marta (2025) and presents our replication notebook. The paper separates the two ways ETFs touch the stocks they hold: arbitrage by authorized participants on the primary market, and high-frequency trading on the secondary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ETFs passed 24 trillion dollars of assets in August 2026, up from 15 trillion at the end of 2024 cited in the paper. Regulators worry that ETF arbitrage transmits shocks to the underlying stocks. The paper's contribution is to separate the primary-market and secondary-market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secondary market is the exchange, where investors trade ETF units and HFTs provide most of the volume. The primary market is where authorized participants create or redeem units against the basket. When the ETF price deviates from NAV by more than the arbitrage cost, APs step in and enforce the law of one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theories make opposite predictions. Under the arbitrage channel, AP basket trades push noise and inventory risk into stocks, so volatility and spreads rise. Under the information-linkage channel, HFT quoting in the ETF spreads information to the basket, so spreads fall and prices become more efficient. The paper's point is that both can be true at once, because different traders drive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and Q2 use French data, where Euronext flags HFTs at the trade level. That is rare and is the paper's data advantage. Q3 needs exogenous variation, which comes from the Bank of Japan's ETF purchases. The authors cannot share any of these data, which is why our notebook rebuilds the mechanisms in simulation and on open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Primary-market activity is the daily percentage change in units outstanding. HFT activity is log volume with an HFT counterparty. For stocks, the ETF-level activity is interacted with ETF ownership of each stock, so identification comes from cross-sectional differences in exposure. All regressions use two-way fixed effects and double-clustered standard errors. Our notebook implements exactly this estimator.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Descriptives from Table 2 and Figure 1. Creations or redemptions happen on only a third of days and amount to 13 percent of exchange volume. HFTs are counterparties in about three quarters of ETF volume, much more than in the underlying stocks.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3 regresses primary-market activity on mispricing and HFT activity with ETF and day fixed effects. Mispricing matters for magnitude, frequency and sign, with a jump for large mispricing, consistent with limits to arbitrage. HFT activity never matters. The chart is from our simulation, where arbitrage switches on above a cost threshold, and reproduces the same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5 uses the Lyxor CAC 40 ETF and its 38 constituent stocks. The primary-market interaction is positive for volatility, spreads and inefficiency and negative for resiliency, so arbitrage days are bad days for market quality. The HFT interaction lowers spreads and inefficiency. Both are associations, because the French data cannot separate cause and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6. The ETF's spread is about half the index-weighted spread of its constituents. The gap widens with HFT activity, not with primary-market activity, and the ETF spread predicts the constituents' spreads. The authors read this as liquidity spilling over from the ETF to the stocks through HFTs.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identification idea. Because the Nikkei is price-weighted, a stock's Nikkei weight depends on its price, not its market value. Relative to market value, BoJ-driven demand is proportional to the price adjustment factor divided by shares outstanding, so a handful of stocks get very large shocks. The paper restricts the sample to BoJ purchase days and uses stock and day fixed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BoJ purchase days, stocks receiving more AP buying have higher returns, higher volatility, wider spreads and less depth. Scaled by the average purchase of 0.33, these are the percentages on the chart, relative to sample means. Comparing with non-purchase days through a Z-test gives a conservative lower bound. This is the paper's causal evidence for the arbitrage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ask which effect dominates, the authors regress cap-weighted market quality on a time trend. ETF ownership rose steadily while volatility and spreads fell. They conclude that the benefits dominate, but this part is descriptive, and we come back to its weaknesses in the critique.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paper's data are proprietary, we simulated a market with authorized participants who arbitrage only above a cost threshold, investor flows, and HFTs. The calibration matches the paper's key moments. Across 30 simulated markets, the HFT regression has about the right size under the null and full power when HFTs do arbitrage, so a null result in the paper's sample is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simulate 38 stocks held by a large tracker ETF, building in both channels, and run the paper's equation 10. The arbitrage interaction is significantly positive for volatility, spreads and inefficiency, and the HFT interaction is significantly negative for spreads and inefficiency. This shows the design can separate the channels; it is not evidence that they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paper-sized Japanese market: 225 Nikkei and 175 TOPIX-only stocks over 1,481 days, with purchases on weak mornings. Across 20 draws, the estimator recovers the true effects and the placebo is centred on zero. While testing the real-data module on random prices, we also found that day-t Nikkei weights create a mechanical correlation with day-t returns, so the notebook uses previous-close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concerns. First, the French evidence is one year and, for stocks, one ETF. Second, both activity measures are proxies. Third, the Japanese shock only covers creations, so the redemption and fire-sale case remains open. Fourth, BoJ days are selected and the doses are extreme. Fifth, the long-run argument is a trend regression confounded by the 2014–2015 tick-size reform. Sixth, some reported magnitudes are hard to reconcile and should be clarified.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paper was written, the BoJ stopped buying ETFs in March 2024, decided in September 2025 to sell about 330 billion yen a year, and started selling in January 2026. That is the redemption experiment the paper lacked, though the pace is tiny. Our notebook includes real-data modules that extend the BoJ test across policy regimes and re-run the trend analysis with tick-size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Arbitrage is infrequent and small. The two markets have opposite associations with stock market quality. The Japanese evidence makes the arbitrage harm causal but bounded. Our replication lab shows the methods work, while flagging that the claim that benefits dominate rests on the weakest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references. Market data used in the notebook come from Yahoo Finance and Bank of Japan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rgbClr val="6B7280"/>
                </a:solidFill>
              </a:rPr>
              <a:t>Comerton-Forde &amp; Marta (2025) · Journal of Financial Markets 75 · paper review &amp; replication</a:t>
            </a:r>
            <a:endParaRPr lang="en-US" sz="10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4213D"/>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3E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17320"/>
            <a:ext cx="10058400"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PAPER REVIEW &amp; REPLICATION</a:t>
            </a:r>
            <a:endParaRPr lang="en-US" sz="1400" dirty="0"/>
          </a:p>
        </p:txBody>
      </p:sp>
      <p:sp>
        <p:nvSpPr>
          <p:cNvPr id="3" name="Title"/>
          <p:cNvSpPr txBox="1"/>
          <p:nvPr/>
        </p:nvSpPr>
        <p:spPr>
          <a:xfrm>
            <a:off x="731520" y="1874520"/>
            <a:ext cx="10241280" cy="1737360"/>
          </a:xfrm>
          <a:prstGeom prst="rect">
            <a:avLst/>
          </a:prstGeom>
          <a:noFill/>
          <a:ln/>
        </p:spPr>
        <p:txBody>
          <a:bodyPr wrap="square" lIns="0" tIns="0" rIns="0" bIns="0" rtlCol="0" anchor="t"/>
          <a:lstStyle/>
          <a:p>
            <a:pPr indent="0" marL="0">
              <a:buNone/>
            </a:pPr>
            <a:r>
              <a:rPr lang="en-US" sz="4200" b="1" dirty="0">
                <a:solidFill>
                  <a:schemeClr val="bg1"/>
                </a:solidFill>
                <a:latin typeface="Cambria" pitchFamily="34" charset="0"/>
                <a:ea typeface="Cambria" pitchFamily="34" charset="-122"/>
                <a:cs typeface="Cambria" pitchFamily="34" charset="-120"/>
              </a:rPr>
              <a:t>ETF effects: the role of primary versus secondary market activities</a:t>
            </a:r>
            <a:endParaRPr lang="en-US" sz="4200" dirty="0"/>
          </a:p>
        </p:txBody>
      </p:sp>
      <p:sp>
        <p:nvSpPr>
          <p:cNvPr id="4" name="Text 2"/>
          <p:cNvSpPr txBox="1"/>
          <p:nvPr/>
        </p:nvSpPr>
        <p:spPr>
          <a:xfrm>
            <a:off x="731520" y="3794760"/>
            <a:ext cx="10241280" cy="411480"/>
          </a:xfrm>
          <a:prstGeom prst="rect">
            <a:avLst/>
          </a:prstGeom>
          <a:noFill/>
          <a:ln/>
        </p:spPr>
        <p:txBody>
          <a:bodyPr wrap="square" lIns="0" tIns="0" rIns="0" bIns="0" rtlCol="0" anchor="ctr"/>
          <a:lstStyle/>
          <a:p>
            <a:pPr indent="0" marL="0">
              <a:buNone/>
            </a:pPr>
            <a:r>
              <a:rPr lang="en-US" sz="1800" dirty="0">
                <a:solidFill>
                  <a:srgbClr val="CBD5E1"/>
                </a:solidFill>
              </a:rPr>
              <a:t>Carole Comerton-Forde &amp; Thomas Marta · Journal of Financial Markets 75 (2025) 100983</a:t>
            </a:r>
            <a:endParaRPr lang="en-US" sz="1800" dirty="0"/>
          </a:p>
        </p:txBody>
      </p:sp>
      <p:sp>
        <p:nvSpPr>
          <p:cNvPr id="5" name="Text 3"/>
          <p:cNvSpPr txBox="1"/>
          <p:nvPr/>
        </p:nvSpPr>
        <p:spPr>
          <a:xfrm>
            <a:off x="731520" y="4389120"/>
            <a:ext cx="9601200" cy="822960"/>
          </a:xfrm>
          <a:prstGeom prst="rect">
            <a:avLst/>
          </a:prstGeom>
          <a:noFill/>
          <a:ln/>
        </p:spPr>
        <p:txBody>
          <a:bodyPr wrap="square" lIns="0" tIns="0" rIns="0" bIns="0" rtlCol="0" anchor="ctr"/>
          <a:lstStyle/>
          <a:p>
            <a:pPr indent="0" marL="0">
              <a:buNone/>
            </a:pPr>
            <a:r>
              <a:rPr lang="en-US" sz="1600" i="1" dirty="0">
                <a:solidFill>
                  <a:srgbClr val="AFC3E0"/>
                </a:solidFill>
              </a:rPr>
              <a:t>Who really moves ETF constituent stocks: authorized participants doing arbitrage, or high-frequency traders on the exchange?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ETFs are now a $24 trillion market</a:t>
            </a:r>
            <a:endParaRPr lang="en-US" sz="3200" dirty="0"/>
          </a:p>
        </p:txBody>
      </p:sp>
      <p:sp>
        <p:nvSpPr>
          <p:cNvPr id="3" name="Stat card 1"/>
          <p:cNvSpPr/>
          <p:nvPr/>
        </p:nvSpPr>
        <p:spPr>
          <a:xfrm>
            <a:off x="548640" y="1508760"/>
            <a:ext cx="3502152" cy="2331720"/>
          </a:xfrm>
          <a:prstGeom prst="roundRect">
            <a:avLst>
              <a:gd name="adj" fmla="val 4706"/>
            </a:avLst>
          </a:prstGeom>
          <a:solidFill>
            <a:schemeClr val="bg2"/>
          </a:solidFill>
          <a:ln w="12700">
            <a:solidFill>
              <a:schemeClr val="bg2"/>
            </a:solidFill>
            <a:prstDash val="solid"/>
          </a:ln>
        </p:spPr>
      </p:sp>
      <p:sp>
        <p:nvSpPr>
          <p:cNvPr id="4" name="Text 2"/>
          <p:cNvSpPr txBox="1"/>
          <p:nvPr/>
        </p:nvSpPr>
        <p:spPr>
          <a:xfrm>
            <a:off x="822960" y="1737360"/>
            <a:ext cx="2953512" cy="9144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$24.0trn</a:t>
            </a:r>
            <a:endParaRPr lang="en-US" sz="4000" dirty="0"/>
          </a:p>
        </p:txBody>
      </p:sp>
      <p:sp>
        <p:nvSpPr>
          <p:cNvPr id="5" name="Text 3"/>
          <p:cNvSpPr txBox="1"/>
          <p:nvPr/>
        </p:nvSpPr>
        <p:spPr>
          <a:xfrm>
            <a:off x="822960" y="2697480"/>
            <a:ext cx="2953512" cy="594360"/>
          </a:xfrm>
          <a:prstGeom prst="rect">
            <a:avLst/>
          </a:prstGeom>
          <a:noFill/>
          <a:ln/>
        </p:spPr>
        <p:txBody>
          <a:bodyPr wrap="square" lIns="0" tIns="0" rIns="0" bIns="0" rtlCol="0" anchor="t"/>
          <a:lstStyle/>
          <a:p>
            <a:pPr indent="0" marL="0">
              <a:buNone/>
            </a:pPr>
            <a:r>
              <a:rPr lang="en-US" sz="1600" dirty="0">
                <a:solidFill>
                  <a:schemeClr val="tx1"/>
                </a:solidFill>
              </a:rPr>
              <a:t>global ETF assets, end-Aug 2026</a:t>
            </a:r>
            <a:endParaRPr lang="en-US" sz="1600" dirty="0"/>
          </a:p>
        </p:txBody>
      </p:sp>
      <p:sp>
        <p:nvSpPr>
          <p:cNvPr id="6" name="Text 4"/>
          <p:cNvSpPr txBox="1"/>
          <p:nvPr/>
        </p:nvSpPr>
        <p:spPr>
          <a:xfrm>
            <a:off x="822960" y="3337560"/>
            <a:ext cx="2953512" cy="320040"/>
          </a:xfrm>
          <a:prstGeom prst="rect">
            <a:avLst/>
          </a:prstGeom>
          <a:noFill/>
          <a:ln/>
        </p:spPr>
        <p:txBody>
          <a:bodyPr wrap="square" lIns="0" tIns="0" rIns="0" bIns="0" rtlCol="0" anchor="ctr"/>
          <a:lstStyle/>
          <a:p>
            <a:pPr indent="0" marL="0">
              <a:buNone/>
            </a:pPr>
            <a:r>
              <a:rPr lang="en-US" sz="1100" dirty="0">
                <a:solidFill>
                  <a:srgbClr val="6B7280"/>
                </a:solidFill>
              </a:rPr>
              <a:t>ETFGI, Sep 2026</a:t>
            </a:r>
            <a:endParaRPr lang="en-US" sz="1100" dirty="0"/>
          </a:p>
        </p:txBody>
      </p:sp>
      <p:sp>
        <p:nvSpPr>
          <p:cNvPr id="7" name="Stat card 2"/>
          <p:cNvSpPr/>
          <p:nvPr/>
        </p:nvSpPr>
        <p:spPr>
          <a:xfrm>
            <a:off x="4325112" y="1508760"/>
            <a:ext cx="3502152" cy="2331720"/>
          </a:xfrm>
          <a:prstGeom prst="roundRect">
            <a:avLst>
              <a:gd name="adj" fmla="val 4706"/>
            </a:avLst>
          </a:prstGeom>
          <a:solidFill>
            <a:schemeClr val="bg2"/>
          </a:solidFill>
          <a:ln w="12700">
            <a:solidFill>
              <a:schemeClr val="bg2"/>
            </a:solidFill>
            <a:prstDash val="solid"/>
          </a:ln>
        </p:spPr>
      </p:sp>
      <p:sp>
        <p:nvSpPr>
          <p:cNvPr id="8" name="Text 6"/>
          <p:cNvSpPr txBox="1"/>
          <p:nvPr/>
        </p:nvSpPr>
        <p:spPr>
          <a:xfrm>
            <a:off x="4599432" y="1737360"/>
            <a:ext cx="2953512"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15×</a:t>
            </a:r>
            <a:endParaRPr lang="en-US" sz="4000" dirty="0"/>
          </a:p>
        </p:txBody>
      </p:sp>
      <p:sp>
        <p:nvSpPr>
          <p:cNvPr id="9" name="Text 7"/>
          <p:cNvSpPr txBox="1"/>
          <p:nvPr/>
        </p:nvSpPr>
        <p:spPr>
          <a:xfrm>
            <a:off x="4599432" y="2697480"/>
            <a:ext cx="2953512" cy="594360"/>
          </a:xfrm>
          <a:prstGeom prst="rect">
            <a:avLst/>
          </a:prstGeom>
          <a:noFill/>
          <a:ln/>
        </p:spPr>
        <p:txBody>
          <a:bodyPr wrap="square" lIns="0" tIns="0" rIns="0" bIns="0" rtlCol="0" anchor="t"/>
          <a:lstStyle/>
          <a:p>
            <a:pPr indent="0" marL="0">
              <a:buNone/>
            </a:pPr>
            <a:r>
              <a:rPr lang="en-US" sz="1600" dirty="0">
                <a:solidFill>
                  <a:schemeClr val="tx1"/>
                </a:solidFill>
              </a:rPr>
              <a:t>growth of ETF assets: $1trn (2009) → $15trn (2024)</a:t>
            </a:r>
            <a:endParaRPr lang="en-US" sz="1600" dirty="0"/>
          </a:p>
        </p:txBody>
      </p:sp>
      <p:sp>
        <p:nvSpPr>
          <p:cNvPr id="10" name="Text 8"/>
          <p:cNvSpPr txBox="1"/>
          <p:nvPr/>
        </p:nvSpPr>
        <p:spPr>
          <a:xfrm>
            <a:off x="4599432" y="3337560"/>
            <a:ext cx="2953512" cy="320040"/>
          </a:xfrm>
          <a:prstGeom prst="rect">
            <a:avLst/>
          </a:prstGeom>
          <a:noFill/>
          <a:ln/>
        </p:spPr>
        <p:txBody>
          <a:bodyPr wrap="square" lIns="0" tIns="0" rIns="0" bIns="0" rtlCol="0" anchor="ctr"/>
          <a:lstStyle/>
          <a:p>
            <a:pPr indent="0" marL="0">
              <a:buNone/>
            </a:pPr>
            <a:r>
              <a:rPr lang="en-US" sz="1100" dirty="0">
                <a:solidFill>
                  <a:srgbClr val="6B7280"/>
                </a:solidFill>
              </a:rPr>
              <a:t>paper, §1</a:t>
            </a:r>
            <a:endParaRPr lang="en-US" sz="1100" dirty="0"/>
          </a:p>
        </p:txBody>
      </p:sp>
      <p:sp>
        <p:nvSpPr>
          <p:cNvPr id="11" name="Stat card 3"/>
          <p:cNvSpPr/>
          <p:nvPr/>
        </p:nvSpPr>
        <p:spPr>
          <a:xfrm>
            <a:off x="8101584" y="1508760"/>
            <a:ext cx="3502152" cy="2331720"/>
          </a:xfrm>
          <a:prstGeom prst="roundRect">
            <a:avLst>
              <a:gd name="adj" fmla="val 4706"/>
            </a:avLst>
          </a:prstGeom>
          <a:solidFill>
            <a:schemeClr val="bg2"/>
          </a:solidFill>
          <a:ln w="12700">
            <a:solidFill>
              <a:schemeClr val="bg2"/>
            </a:solidFill>
            <a:prstDash val="solid"/>
          </a:ln>
        </p:spPr>
      </p:sp>
      <p:sp>
        <p:nvSpPr>
          <p:cNvPr id="12" name="Text 10"/>
          <p:cNvSpPr txBox="1"/>
          <p:nvPr/>
        </p:nvSpPr>
        <p:spPr>
          <a:xfrm>
            <a:off x="8375904" y="1737360"/>
            <a:ext cx="2953512"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≈30%</a:t>
            </a:r>
            <a:endParaRPr lang="en-US" sz="4000" dirty="0"/>
          </a:p>
        </p:txBody>
      </p:sp>
      <p:sp>
        <p:nvSpPr>
          <p:cNvPr id="13" name="Text 11"/>
          <p:cNvSpPr txBox="1"/>
          <p:nvPr/>
        </p:nvSpPr>
        <p:spPr>
          <a:xfrm>
            <a:off x="8375904" y="2697480"/>
            <a:ext cx="2953512" cy="594360"/>
          </a:xfrm>
          <a:prstGeom prst="rect">
            <a:avLst/>
          </a:prstGeom>
          <a:noFill/>
          <a:ln/>
        </p:spPr>
        <p:txBody>
          <a:bodyPr wrap="square" lIns="0" tIns="0" rIns="0" bIns="0" rtlCol="0" anchor="t"/>
          <a:lstStyle/>
          <a:p>
            <a:pPr indent="0" marL="0">
              <a:buNone/>
            </a:pPr>
            <a:r>
              <a:rPr lang="en-US" sz="1600" dirty="0">
                <a:solidFill>
                  <a:schemeClr val="tx1"/>
                </a:solidFill>
              </a:rPr>
              <a:t>of all US trading volume is in ETFs</a:t>
            </a:r>
            <a:endParaRPr lang="en-US" sz="1600" dirty="0"/>
          </a:p>
        </p:txBody>
      </p:sp>
      <p:sp>
        <p:nvSpPr>
          <p:cNvPr id="14" name="Text 12"/>
          <p:cNvSpPr txBox="1"/>
          <p:nvPr/>
        </p:nvSpPr>
        <p:spPr>
          <a:xfrm>
            <a:off x="8375904" y="3337560"/>
            <a:ext cx="2953512" cy="320040"/>
          </a:xfrm>
          <a:prstGeom prst="rect">
            <a:avLst/>
          </a:prstGeom>
          <a:noFill/>
          <a:ln/>
        </p:spPr>
        <p:txBody>
          <a:bodyPr wrap="square" lIns="0" tIns="0" rIns="0" bIns="0" rtlCol="0" anchor="ctr"/>
          <a:lstStyle/>
          <a:p>
            <a:pPr indent="0" marL="0">
              <a:buNone/>
            </a:pPr>
            <a:r>
              <a:rPr lang="en-US" sz="1100" dirty="0">
                <a:solidFill>
                  <a:srgbClr val="6B7280"/>
                </a:solidFill>
              </a:rPr>
              <a:t>paper, citing Brogaard et al. (2024)</a:t>
            </a:r>
            <a:endParaRPr lang="en-US" sz="1100" dirty="0"/>
          </a:p>
        </p:txBody>
      </p:sp>
      <p:sp>
        <p:nvSpPr>
          <p:cNvPr id="15" name="Text 13"/>
          <p:cNvSpPr txBox="1"/>
          <p:nvPr/>
        </p:nvSpPr>
        <p:spPr>
          <a:xfrm>
            <a:off x="548640" y="4206240"/>
            <a:ext cx="11094415" cy="822960"/>
          </a:xfrm>
          <a:prstGeom prst="rect">
            <a:avLst/>
          </a:prstGeom>
          <a:noFill/>
          <a:ln/>
        </p:spPr>
        <p:txBody>
          <a:bodyPr wrap="square" lIns="0" tIns="0" rIns="0" bIns="0" rtlCol="0" anchor="ctr"/>
          <a:lstStyle/>
          <a:p>
            <a:pPr indent="0" marL="0">
              <a:buNone/>
            </a:pPr>
            <a:r>
              <a:rPr lang="en-US" sz="1800" b="1" dirty="0">
                <a:solidFill>
                  <a:schemeClr val="tx1"/>
                </a:solidFill>
              </a:rPr>
              <a:t>The worry: </a:t>
            </a:r>
            <a:pPr indent="0" marL="0">
              <a:buNone/>
            </a:pPr>
            <a:r>
              <a:rPr lang="en-US" sz="1800" dirty="0">
                <a:solidFill>
                  <a:schemeClr val="tx1"/>
                </a:solidFill>
              </a:rPr>
              <a:t>do ETFs import volatility, illiquidity and fragility into the stocks they hold (Ben-David et al., 2018)? Or do they make those stocks easier to trade?</a:t>
            </a:r>
            <a:endParaRPr lang="en-US" sz="1800" dirty="0"/>
          </a:p>
        </p:txBody>
      </p:sp>
      <p:sp>
        <p:nvSpPr>
          <p:cNvPr id="16" name="Text 14"/>
          <p:cNvSpPr txBox="1"/>
          <p:nvPr/>
        </p:nvSpPr>
        <p:spPr>
          <a:xfrm>
            <a:off x="548640" y="5120640"/>
            <a:ext cx="11094415" cy="457200"/>
          </a:xfrm>
          <a:prstGeom prst="rect">
            <a:avLst/>
          </a:prstGeom>
          <a:noFill/>
          <a:ln/>
        </p:spPr>
        <p:txBody>
          <a:bodyPr wrap="square" lIns="0" tIns="0" rIns="0" bIns="0" rtlCol="0" anchor="ctr"/>
          <a:lstStyle/>
          <a:p>
            <a:pPr indent="0" marL="0">
              <a:buNone/>
            </a:pPr>
            <a:r>
              <a:rPr lang="en-US" sz="1800" b="1" dirty="0">
                <a:solidFill>
                  <a:schemeClr val="tx2"/>
                </a:solidFill>
              </a:rPr>
              <a:t>The paper's answer: it depends on which ETF market you look at.</a:t>
            </a:r>
            <a:endParaRPr lang="en-US" sz="18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One ETF, two markets</a:t>
            </a:r>
            <a:endParaRPr lang="en-US" sz="3200" dirty="0"/>
          </a:p>
        </p:txBody>
      </p:sp>
      <p:sp>
        <p:nvSpPr>
          <p:cNvPr id="3" name="Text 1"/>
          <p:cNvSpPr txBox="1"/>
          <p:nvPr/>
        </p:nvSpPr>
        <p:spPr>
          <a:xfrm>
            <a:off x="548640" y="1325880"/>
            <a:ext cx="54864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SECONDARY MARKET (exchange)</a:t>
            </a:r>
            <a:endParaRPr lang="en-US" sz="1200" dirty="0"/>
          </a:p>
        </p:txBody>
      </p:sp>
      <p:sp>
        <p:nvSpPr>
          <p:cNvPr id="4" name="Investors"/>
          <p:cNvSpPr/>
          <p:nvPr/>
        </p:nvSpPr>
        <p:spPr>
          <a:xfrm>
            <a:off x="548640" y="1737360"/>
            <a:ext cx="2743200" cy="1051560"/>
          </a:xfrm>
          <a:prstGeom prst="roundRect">
            <a:avLst>
              <a:gd name="adj" fmla="val 8696"/>
            </a:avLst>
          </a:prstGeom>
          <a:solidFill>
            <a:schemeClr val="bg2"/>
          </a:solidFill>
          <a:ln w="12700">
            <a:solidFill>
              <a:schemeClr val="bg2"/>
            </a:solidFill>
            <a:prstDash val="solid"/>
          </a:ln>
        </p:spPr>
      </p:sp>
      <p:sp>
        <p:nvSpPr>
          <p:cNvPr id="5" name="Text 3"/>
          <p:cNvSpPr txBox="1"/>
          <p:nvPr/>
        </p:nvSpPr>
        <p:spPr>
          <a:xfrm>
            <a:off x="685800" y="1737360"/>
            <a:ext cx="2468880" cy="1051560"/>
          </a:xfrm>
          <a:prstGeom prst="rect">
            <a:avLst/>
          </a:prstGeom>
          <a:noFill/>
          <a:ln/>
        </p:spPr>
        <p:txBody>
          <a:bodyPr wrap="square" lIns="0" tIns="0" rIns="0" bIns="0" rtlCol="0" anchor="ctr"/>
          <a:lstStyle/>
          <a:p>
            <a:pPr algn="ctr" indent="0" marL="0">
              <a:buNone/>
            </a:pPr>
            <a:r>
              <a:rPr lang="en-US" sz="1600" b="1" dirty="0">
                <a:solidFill>
                  <a:schemeClr val="tx1"/>
                </a:solidFill>
              </a:rPr>
              <a:t>Investors</a:t>
            </a:r>
            <a:endParaRPr lang="en-US" sz="1600" dirty="0"/>
          </a:p>
          <a:p>
            <a:pPr algn="ctr" indent="0" marL="0">
              <a:buNone/>
            </a:pPr>
            <a:r>
              <a:rPr lang="en-US" sz="1300" dirty="0">
                <a:solidFill>
                  <a:schemeClr val="tx1"/>
                </a:solidFill>
              </a:rPr>
              <a:t>buy &amp; sell ETF units</a:t>
            </a:r>
            <a:endParaRPr lang="en-US" sz="1600" dirty="0"/>
          </a:p>
        </p:txBody>
      </p:sp>
      <p:sp>
        <p:nvSpPr>
          <p:cNvPr id="6" name="Exchange"/>
          <p:cNvSpPr/>
          <p:nvPr/>
        </p:nvSpPr>
        <p:spPr>
          <a:xfrm>
            <a:off x="3977640" y="1737360"/>
            <a:ext cx="3657600" cy="1051560"/>
          </a:xfrm>
          <a:prstGeom prst="roundRect">
            <a:avLst>
              <a:gd name="adj" fmla="val 8696"/>
            </a:avLst>
          </a:prstGeom>
          <a:solidFill>
            <a:schemeClr val="accent1"/>
          </a:solidFill>
          <a:ln w="12700">
            <a:solidFill>
              <a:schemeClr val="accent1"/>
            </a:solidFill>
            <a:prstDash val="solid"/>
          </a:ln>
        </p:spPr>
      </p:sp>
      <p:sp>
        <p:nvSpPr>
          <p:cNvPr id="7" name="Text 5"/>
          <p:cNvSpPr txBox="1"/>
          <p:nvPr/>
        </p:nvSpPr>
        <p:spPr>
          <a:xfrm>
            <a:off x="4114800" y="1737360"/>
            <a:ext cx="3383280" cy="1051560"/>
          </a:xfrm>
          <a:prstGeom prst="rect">
            <a:avLst/>
          </a:prstGeom>
          <a:noFill/>
          <a:ln/>
        </p:spPr>
        <p:txBody>
          <a:bodyPr wrap="square" lIns="0" tIns="0" rIns="0" bIns="0" rtlCol="0" anchor="ctr"/>
          <a:lstStyle/>
          <a:p>
            <a:pPr algn="ctr" indent="0" marL="0">
              <a:buNone/>
            </a:pPr>
            <a:r>
              <a:rPr lang="en-US" sz="1600" b="1" dirty="0">
                <a:solidFill>
                  <a:schemeClr val="bg1"/>
                </a:solidFill>
              </a:rPr>
              <a:t>Exchange order book</a:t>
            </a:r>
            <a:endParaRPr lang="en-US" sz="1600" dirty="0"/>
          </a:p>
          <a:p>
            <a:pPr algn="ctr" indent="0" marL="0">
              <a:buNone/>
            </a:pPr>
            <a:r>
              <a:rPr lang="en-US" sz="1300" dirty="0">
                <a:solidFill>
                  <a:schemeClr val="bg1"/>
                </a:solidFill>
              </a:rPr>
              <a:t>HFTs ≈ 74% of ETF volume</a:t>
            </a:r>
            <a:endParaRPr lang="en-US" sz="1600" dirty="0"/>
          </a:p>
        </p:txBody>
      </p:sp>
      <p:sp>
        <p:nvSpPr>
          <p:cNvPr id="8" name="ETF price"/>
          <p:cNvSpPr/>
          <p:nvPr/>
        </p:nvSpPr>
        <p:spPr>
          <a:xfrm>
            <a:off x="8641080" y="1737360"/>
            <a:ext cx="2999232" cy="1051560"/>
          </a:xfrm>
          <a:prstGeom prst="roundRect">
            <a:avLst>
              <a:gd name="adj" fmla="val 8696"/>
            </a:avLst>
          </a:prstGeom>
          <a:solidFill>
            <a:schemeClr val="bg2"/>
          </a:solidFill>
          <a:ln w="12700">
            <a:solidFill>
              <a:schemeClr val="bg2"/>
            </a:solidFill>
            <a:prstDash val="solid"/>
          </a:ln>
        </p:spPr>
      </p:sp>
      <p:sp>
        <p:nvSpPr>
          <p:cNvPr id="9" name="Text 7"/>
          <p:cNvSpPr txBox="1"/>
          <p:nvPr/>
        </p:nvSpPr>
        <p:spPr>
          <a:xfrm>
            <a:off x="8778240" y="1737360"/>
            <a:ext cx="2724912" cy="1051560"/>
          </a:xfrm>
          <a:prstGeom prst="rect">
            <a:avLst/>
          </a:prstGeom>
          <a:noFill/>
          <a:ln/>
        </p:spPr>
        <p:txBody>
          <a:bodyPr wrap="square" lIns="0" tIns="0" rIns="0" bIns="0" rtlCol="0" anchor="ctr"/>
          <a:lstStyle/>
          <a:p>
            <a:pPr algn="ctr" indent="0" marL="0">
              <a:buNone/>
            </a:pPr>
            <a:r>
              <a:rPr lang="en-US" sz="1600" b="1" dirty="0">
                <a:solidFill>
                  <a:schemeClr val="tx1"/>
                </a:solidFill>
              </a:rPr>
              <a:t>ETF price  P</a:t>
            </a:r>
            <a:endParaRPr lang="en-US" sz="1600" dirty="0"/>
          </a:p>
          <a:p>
            <a:pPr algn="ctr" indent="0" marL="0">
              <a:buNone/>
            </a:pPr>
            <a:r>
              <a:rPr lang="en-US" sz="1300" dirty="0">
                <a:solidFill>
                  <a:schemeClr val="tx1"/>
                </a:solidFill>
              </a:rPr>
              <a:t>continuous quotes</a:t>
            </a:r>
            <a:endParaRPr lang="en-US" sz="1600" dirty="0"/>
          </a:p>
        </p:txBody>
      </p:sp>
      <p:sp>
        <p:nvSpPr>
          <p:cNvPr id="10" name="Arrow investors-exchange"/>
          <p:cNvSpPr/>
          <p:nvPr/>
        </p:nvSpPr>
        <p:spPr>
          <a:xfrm>
            <a:off x="3291840" y="2263140"/>
            <a:ext cx="685800" cy="914"/>
          </a:xfrm>
          <a:prstGeom prst="line">
            <a:avLst/>
          </a:prstGeom>
          <a:noFill/>
          <a:ln w="25400">
            <a:solidFill>
              <a:srgbClr val="9CA3AF"/>
            </a:solidFill>
            <a:prstDash val="solid"/>
            <a:headEnd type="triangle"/>
            <a:tailEnd type="triangle"/>
          </a:ln>
        </p:spPr>
      </p:sp>
      <p:sp>
        <p:nvSpPr>
          <p:cNvPr id="11" name="Arrow exchange-price"/>
          <p:cNvSpPr/>
          <p:nvPr/>
        </p:nvSpPr>
        <p:spPr>
          <a:xfrm>
            <a:off x="7635240" y="2263140"/>
            <a:ext cx="1005840" cy="914"/>
          </a:xfrm>
          <a:prstGeom prst="line">
            <a:avLst/>
          </a:prstGeom>
          <a:noFill/>
          <a:ln w="25400">
            <a:solidFill>
              <a:srgbClr val="9CA3AF"/>
            </a:solidFill>
            <a:prstDash val="solid"/>
            <a:headEnd type="triangle"/>
            <a:tailEnd type="triangle"/>
          </a:ln>
        </p:spPr>
      </p:sp>
      <p:sp>
        <p:nvSpPr>
          <p:cNvPr id="12" name="Text 10"/>
          <p:cNvSpPr txBox="1"/>
          <p:nvPr/>
        </p:nvSpPr>
        <p:spPr>
          <a:xfrm>
            <a:off x="548640" y="3886200"/>
            <a:ext cx="5486400" cy="320040"/>
          </a:xfrm>
          <a:prstGeom prst="rect">
            <a:avLst/>
          </a:prstGeom>
          <a:noFill/>
          <a:ln/>
        </p:spPr>
        <p:txBody>
          <a:bodyPr wrap="square" lIns="0" tIns="0" rIns="0" bIns="0" rtlCol="0" anchor="ctr"/>
          <a:lstStyle/>
          <a:p>
            <a:pPr indent="0" marL="0">
              <a:buNone/>
            </a:pPr>
            <a:r>
              <a:rPr lang="en-US" sz="1200" b="1" spc="200" kern="0" dirty="0">
                <a:solidFill>
                  <a:schemeClr val="accent2"/>
                </a:solidFill>
              </a:rPr>
              <a:t>PRIMARY MARKET (issuer)</a:t>
            </a:r>
            <a:endParaRPr lang="en-US" sz="1200" dirty="0"/>
          </a:p>
        </p:txBody>
      </p:sp>
      <p:sp>
        <p:nvSpPr>
          <p:cNvPr id="13" name="APs"/>
          <p:cNvSpPr/>
          <p:nvPr/>
        </p:nvSpPr>
        <p:spPr>
          <a:xfrm>
            <a:off x="548640" y="4297680"/>
            <a:ext cx="2743200" cy="1051560"/>
          </a:xfrm>
          <a:prstGeom prst="roundRect">
            <a:avLst>
              <a:gd name="adj" fmla="val 8696"/>
            </a:avLst>
          </a:prstGeom>
          <a:solidFill>
            <a:schemeClr val="bg2"/>
          </a:solidFill>
          <a:ln w="12700">
            <a:solidFill>
              <a:schemeClr val="bg2"/>
            </a:solidFill>
            <a:prstDash val="solid"/>
          </a:ln>
        </p:spPr>
      </p:sp>
      <p:sp>
        <p:nvSpPr>
          <p:cNvPr id="14" name="Text 12"/>
          <p:cNvSpPr txBox="1"/>
          <p:nvPr/>
        </p:nvSpPr>
        <p:spPr>
          <a:xfrm>
            <a:off x="685800" y="4297680"/>
            <a:ext cx="2468880" cy="1051560"/>
          </a:xfrm>
          <a:prstGeom prst="rect">
            <a:avLst/>
          </a:prstGeom>
          <a:noFill/>
          <a:ln/>
        </p:spPr>
        <p:txBody>
          <a:bodyPr wrap="square" lIns="0" tIns="0" rIns="0" bIns="0" rtlCol="0" anchor="ctr"/>
          <a:lstStyle/>
          <a:p>
            <a:pPr algn="ctr" indent="0" marL="0">
              <a:buNone/>
            </a:pPr>
            <a:r>
              <a:rPr lang="en-US" sz="1600" b="1" dirty="0">
                <a:solidFill>
                  <a:schemeClr val="tx1"/>
                </a:solidFill>
              </a:rPr>
              <a:t>Authorized Participants</a:t>
            </a:r>
            <a:endParaRPr lang="en-US" sz="1600" dirty="0"/>
          </a:p>
          <a:p>
            <a:pPr algn="ctr" indent="0" marL="0">
              <a:buNone/>
            </a:pPr>
            <a:r>
              <a:rPr lang="en-US" sz="1300" dirty="0">
                <a:solidFill>
                  <a:schemeClr val="tx1"/>
                </a:solidFill>
              </a:rPr>
              <a:t>dealers with creation rights</a:t>
            </a:r>
            <a:endParaRPr lang="en-US" sz="1600" dirty="0"/>
          </a:p>
        </p:txBody>
      </p:sp>
      <p:sp>
        <p:nvSpPr>
          <p:cNvPr id="15" name="Issuer"/>
          <p:cNvSpPr/>
          <p:nvPr/>
        </p:nvSpPr>
        <p:spPr>
          <a:xfrm>
            <a:off x="3977640" y="4297680"/>
            <a:ext cx="3657600" cy="1051560"/>
          </a:xfrm>
          <a:prstGeom prst="roundRect">
            <a:avLst>
              <a:gd name="adj" fmla="val 8696"/>
            </a:avLst>
          </a:prstGeom>
          <a:solidFill>
            <a:schemeClr val="accent2"/>
          </a:solidFill>
          <a:ln w="12700">
            <a:solidFill>
              <a:schemeClr val="accent2"/>
            </a:solidFill>
            <a:prstDash val="solid"/>
          </a:ln>
        </p:spPr>
      </p:sp>
      <p:sp>
        <p:nvSpPr>
          <p:cNvPr id="16" name="Text 14"/>
          <p:cNvSpPr txBox="1"/>
          <p:nvPr/>
        </p:nvSpPr>
        <p:spPr>
          <a:xfrm>
            <a:off x="4114800" y="4297680"/>
            <a:ext cx="3383280" cy="1051560"/>
          </a:xfrm>
          <a:prstGeom prst="rect">
            <a:avLst/>
          </a:prstGeom>
          <a:noFill/>
          <a:ln/>
        </p:spPr>
        <p:txBody>
          <a:bodyPr wrap="square" lIns="0" tIns="0" rIns="0" bIns="0" rtlCol="0" anchor="ctr"/>
          <a:lstStyle/>
          <a:p>
            <a:pPr algn="ctr" indent="0" marL="0">
              <a:buNone/>
            </a:pPr>
            <a:r>
              <a:rPr lang="en-US" sz="1600" b="1" dirty="0">
                <a:solidFill>
                  <a:schemeClr val="bg1"/>
                </a:solidFill>
              </a:rPr>
              <a:t>Creation / redemption</a:t>
            </a:r>
            <a:endParaRPr lang="en-US" sz="1600" dirty="0"/>
          </a:p>
          <a:p>
            <a:pPr algn="ctr" indent="0" marL="0">
              <a:buNone/>
            </a:pPr>
            <a:r>
              <a:rPr lang="en-US" sz="1300" dirty="0">
                <a:solidFill>
                  <a:schemeClr val="bg1"/>
                </a:solidFill>
              </a:rPr>
              <a:t>units ⇄ basket, in kind</a:t>
            </a:r>
            <a:endParaRPr lang="en-US" sz="1600" dirty="0"/>
          </a:p>
        </p:txBody>
      </p:sp>
      <p:sp>
        <p:nvSpPr>
          <p:cNvPr id="17" name="Basket"/>
          <p:cNvSpPr/>
          <p:nvPr/>
        </p:nvSpPr>
        <p:spPr>
          <a:xfrm>
            <a:off x="8641080" y="4297680"/>
            <a:ext cx="2999232" cy="1051560"/>
          </a:xfrm>
          <a:prstGeom prst="roundRect">
            <a:avLst>
              <a:gd name="adj" fmla="val 8696"/>
            </a:avLst>
          </a:prstGeom>
          <a:solidFill>
            <a:schemeClr val="bg2"/>
          </a:solidFill>
          <a:ln w="12700">
            <a:solidFill>
              <a:schemeClr val="bg2"/>
            </a:solidFill>
            <a:prstDash val="solid"/>
          </a:ln>
        </p:spPr>
      </p:sp>
      <p:sp>
        <p:nvSpPr>
          <p:cNvPr id="18" name="Text 16"/>
          <p:cNvSpPr txBox="1"/>
          <p:nvPr/>
        </p:nvSpPr>
        <p:spPr>
          <a:xfrm>
            <a:off x="8778240" y="4297680"/>
            <a:ext cx="2724912" cy="1051560"/>
          </a:xfrm>
          <a:prstGeom prst="rect">
            <a:avLst/>
          </a:prstGeom>
          <a:noFill/>
          <a:ln/>
        </p:spPr>
        <p:txBody>
          <a:bodyPr wrap="square" lIns="0" tIns="0" rIns="0" bIns="0" rtlCol="0" anchor="ctr"/>
          <a:lstStyle/>
          <a:p>
            <a:pPr algn="ctr" indent="0" marL="0">
              <a:buNone/>
            </a:pPr>
            <a:r>
              <a:rPr lang="en-US" sz="1600" b="1" dirty="0">
                <a:solidFill>
                  <a:schemeClr val="tx1"/>
                </a:solidFill>
              </a:rPr>
              <a:t>Basket of stocks</a:t>
            </a:r>
            <a:endParaRPr lang="en-US" sz="1600" dirty="0"/>
          </a:p>
          <a:p>
            <a:pPr algn="ctr" indent="0" marL="0">
              <a:buNone/>
            </a:pPr>
            <a:r>
              <a:rPr lang="en-US" sz="1300" dirty="0">
                <a:solidFill>
                  <a:schemeClr val="tx1"/>
                </a:solidFill>
              </a:rPr>
              <a:t>value per unit = NAV</a:t>
            </a:r>
            <a:endParaRPr lang="en-US" sz="1600" dirty="0"/>
          </a:p>
        </p:txBody>
      </p:sp>
      <p:sp>
        <p:nvSpPr>
          <p:cNvPr id="19" name="Arrow APs-issuer"/>
          <p:cNvSpPr/>
          <p:nvPr/>
        </p:nvSpPr>
        <p:spPr>
          <a:xfrm>
            <a:off x="3291840" y="4823460"/>
            <a:ext cx="685800" cy="914"/>
          </a:xfrm>
          <a:prstGeom prst="line">
            <a:avLst/>
          </a:prstGeom>
          <a:noFill/>
          <a:ln w="25400">
            <a:solidFill>
              <a:srgbClr val="9CA3AF"/>
            </a:solidFill>
            <a:prstDash val="solid"/>
            <a:headEnd type="triangle"/>
            <a:tailEnd type="triangle"/>
          </a:ln>
        </p:spPr>
      </p:sp>
      <p:sp>
        <p:nvSpPr>
          <p:cNvPr id="20" name="Arrow issuer-basket"/>
          <p:cNvSpPr/>
          <p:nvPr/>
        </p:nvSpPr>
        <p:spPr>
          <a:xfrm>
            <a:off x="7635240" y="4823460"/>
            <a:ext cx="1005840" cy="914"/>
          </a:xfrm>
          <a:prstGeom prst="line">
            <a:avLst/>
          </a:prstGeom>
          <a:noFill/>
          <a:ln w="25400">
            <a:solidFill>
              <a:srgbClr val="9CA3AF"/>
            </a:solidFill>
            <a:prstDash val="solid"/>
            <a:headEnd type="triangle"/>
            <a:tailEnd type="triangle"/>
          </a:ln>
        </p:spPr>
      </p:sp>
      <p:sp>
        <p:nvSpPr>
          <p:cNvPr id="21" name="Arrow price-NAV"/>
          <p:cNvSpPr/>
          <p:nvPr/>
        </p:nvSpPr>
        <p:spPr>
          <a:xfrm>
            <a:off x="10140696" y="2788920"/>
            <a:ext cx="914" cy="1508760"/>
          </a:xfrm>
          <a:prstGeom prst="line">
            <a:avLst/>
          </a:prstGeom>
          <a:noFill/>
          <a:ln w="25400">
            <a:solidFill>
              <a:srgbClr val="9CA3AF"/>
            </a:solidFill>
            <a:prstDash val="solid"/>
            <a:headEnd type="triangle"/>
            <a:tailEnd type="triangle"/>
          </a:ln>
        </p:spPr>
      </p:sp>
      <p:sp>
        <p:nvSpPr>
          <p:cNvPr id="22" name="Text 20"/>
          <p:cNvSpPr txBox="1"/>
          <p:nvPr/>
        </p:nvSpPr>
        <p:spPr>
          <a:xfrm>
            <a:off x="8686800" y="3108960"/>
            <a:ext cx="1325880" cy="868680"/>
          </a:xfrm>
          <a:prstGeom prst="rect">
            <a:avLst/>
          </a:prstGeom>
          <a:noFill/>
          <a:ln/>
        </p:spPr>
        <p:txBody>
          <a:bodyPr wrap="square" lIns="0" tIns="0" rIns="0" bIns="0" rtlCol="0" anchor="ctr"/>
          <a:lstStyle/>
          <a:p>
            <a:pPr algn="r" indent="0" marL="0">
              <a:buNone/>
            </a:pPr>
            <a:r>
              <a:rPr lang="en-US" sz="1300" b="1" dirty="0">
                <a:solidFill>
                  <a:schemeClr val="tx1"/>
                </a:solidFill>
              </a:rPr>
              <a:t>Mispricing</a:t>
            </a:r>
            <a:endParaRPr lang="en-US" sz="1300" dirty="0"/>
          </a:p>
          <a:p>
            <a:pPr algn="r" indent="0" marL="0">
              <a:buNone/>
            </a:pPr>
            <a:r>
              <a:rPr lang="en-US" sz="1300" dirty="0">
                <a:solidFill>
                  <a:schemeClr val="tx1"/>
                </a:solidFill>
              </a:rPr>
              <a:t>(P − NAV) / NAV</a:t>
            </a:r>
            <a:endParaRPr lang="en-US" sz="1300" dirty="0"/>
          </a:p>
        </p:txBody>
      </p:sp>
      <p:sp>
        <p:nvSpPr>
          <p:cNvPr id="23" name="Text 21"/>
          <p:cNvSpPr txBox="1"/>
          <p:nvPr/>
        </p:nvSpPr>
        <p:spPr>
          <a:xfrm>
            <a:off x="548640" y="3063240"/>
            <a:ext cx="7315200" cy="548640"/>
          </a:xfrm>
          <a:prstGeom prst="rect">
            <a:avLst/>
          </a:prstGeom>
          <a:noFill/>
          <a:ln/>
        </p:spPr>
        <p:txBody>
          <a:bodyPr wrap="square" lIns="0" tIns="0" rIns="0" bIns="0" rtlCol="0" anchor="ctr"/>
          <a:lstStyle/>
          <a:p>
            <a:pPr indent="0" marL="0">
              <a:buNone/>
            </a:pPr>
            <a:r>
              <a:rPr lang="en-US" sz="1400" i="1" dirty="0">
                <a:solidFill>
                  <a:schemeClr val="tx2"/>
                </a:solidFill>
              </a:rPr>
              <a:t>APs create units when P &gt; NAV and redeem when P &lt; NAV — but only if the gap beats the cost.</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Two channels, opposite predictions</a:t>
            </a:r>
            <a:endParaRPr lang="en-US" sz="3200" dirty="0"/>
          </a:p>
        </p:txBody>
      </p:sp>
      <p:sp>
        <p:nvSpPr>
          <p:cNvPr id="3" name="Arbitrage channel card"/>
          <p:cNvSpPr/>
          <p:nvPr/>
        </p:nvSpPr>
        <p:spPr>
          <a:xfrm>
            <a:off x="548640" y="1371600"/>
            <a:ext cx="5394960" cy="4663440"/>
          </a:xfrm>
          <a:prstGeom prst="roundRect">
            <a:avLst>
              <a:gd name="adj" fmla="val 2353"/>
            </a:avLst>
          </a:prstGeom>
          <a:solidFill>
            <a:schemeClr val="bg2"/>
          </a:solidFill>
          <a:ln w="12700">
            <a:solidFill>
              <a:schemeClr val="bg2"/>
            </a:solidFill>
            <a:prstDash val="solid"/>
          </a:ln>
        </p:spPr>
      </p:sp>
      <p:sp>
        <p:nvSpPr>
          <p:cNvPr id="4" name="Arbitrage channel circle"/>
          <p:cNvSpPr/>
          <p:nvPr/>
        </p:nvSpPr>
        <p:spPr>
          <a:xfrm>
            <a:off x="868680" y="1645920"/>
            <a:ext cx="731520" cy="731520"/>
          </a:xfrm>
          <a:prstGeom prst="ellipse">
            <a:avLst/>
          </a:prstGeom>
          <a:solidFill>
            <a:schemeClr val="accent2"/>
          </a:solidFill>
          <a:ln w="12700">
            <a:solidFill>
              <a:schemeClr val="accent2"/>
            </a:solidFill>
            <a:prstDash val="solid"/>
          </a:ln>
        </p:spPr>
      </p:sp>
      <p:pic>
        <p:nvPicPr>
          <p:cNvPr id="5" name="Arbitrage channel icon" descr="preencoded.png">    </p:cNvPr>
          <p:cNvPicPr>
            <a:picLocks noChangeAspect="1"/>
          </p:cNvPicPr>
          <p:nvPr/>
        </p:nvPicPr>
        <p:blipFill>
          <a:blip r:embed="rId1"/>
          <a:stretch>
            <a:fillRect/>
          </a:stretch>
        </p:blipFill>
        <p:spPr>
          <a:xfrm>
            <a:off x="1044245" y="1821485"/>
            <a:ext cx="380390" cy="380390"/>
          </a:xfrm>
          <a:prstGeom prst="rect">
            <a:avLst/>
          </a:prstGeom>
        </p:spPr>
      </p:pic>
      <p:sp>
        <p:nvSpPr>
          <p:cNvPr id="6" name="Text 3"/>
          <p:cNvSpPr txBox="1"/>
          <p:nvPr/>
        </p:nvSpPr>
        <p:spPr>
          <a:xfrm>
            <a:off x="1783080" y="1645920"/>
            <a:ext cx="3931920" cy="411480"/>
          </a:xfrm>
          <a:prstGeom prst="rect">
            <a:avLst/>
          </a:prstGeom>
          <a:noFill/>
          <a:ln/>
        </p:spPr>
        <p:txBody>
          <a:bodyPr wrap="square" lIns="0" tIns="0" rIns="0" bIns="0" rtlCol="0" anchor="ctr"/>
          <a:lstStyle/>
          <a:p>
            <a:pPr indent="0" marL="0">
              <a:buNone/>
            </a:pPr>
            <a:r>
              <a:rPr lang="en-US" sz="2200" b="1" dirty="0">
                <a:solidFill>
                  <a:schemeClr val="tx2"/>
                </a:solidFill>
              </a:rPr>
              <a:t>Arbitrage channel</a:t>
            </a:r>
            <a:endParaRPr lang="en-US" sz="2200" dirty="0"/>
          </a:p>
        </p:txBody>
      </p:sp>
      <p:sp>
        <p:nvSpPr>
          <p:cNvPr id="7" name="Text 4"/>
          <p:cNvSpPr txBox="1"/>
          <p:nvPr/>
        </p:nvSpPr>
        <p:spPr>
          <a:xfrm>
            <a:off x="1783080" y="2057400"/>
            <a:ext cx="3931920" cy="320040"/>
          </a:xfrm>
          <a:prstGeom prst="rect">
            <a:avLst/>
          </a:prstGeom>
          <a:noFill/>
          <a:ln/>
        </p:spPr>
        <p:txBody>
          <a:bodyPr wrap="square" lIns="0" tIns="0" rIns="0" bIns="0" rtlCol="0" anchor="ctr"/>
          <a:lstStyle/>
          <a:p>
            <a:pPr indent="0" marL="0">
              <a:buNone/>
            </a:pPr>
            <a:r>
              <a:rPr lang="en-US" sz="1400" dirty="0">
                <a:solidFill>
                  <a:srgbClr val="6B7280"/>
                </a:solidFill>
              </a:rPr>
              <a:t>APs on the primary market</a:t>
            </a:r>
            <a:endParaRPr lang="en-US" sz="1400" dirty="0"/>
          </a:p>
        </p:txBody>
      </p:sp>
      <p:sp>
        <p:nvSpPr>
          <p:cNvPr id="8" name="Text 5"/>
          <p:cNvSpPr txBox="1"/>
          <p:nvPr/>
        </p:nvSpPr>
        <p:spPr>
          <a:xfrm>
            <a:off x="914400" y="2697480"/>
            <a:ext cx="4663440" cy="1280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Basket trades pass non-fundamental demand shocks to the stocks</a:t>
            </a:r>
            <a:endParaRPr lang="en-US" sz="1600" dirty="0"/>
          </a:p>
          <a:p>
            <a:pPr marL="342900" indent="-342900">
              <a:spcAft>
                <a:spcPts val="800"/>
              </a:spcAft>
              <a:buSzPct val="100000"/>
              <a:buChar char="•"/>
            </a:pPr>
            <a:r>
              <a:rPr lang="en-US" sz="1600" dirty="0">
                <a:solidFill>
                  <a:schemeClr val="tx1"/>
                </a:solidFill>
              </a:rPr>
              <a:t>Inventory and adverse-selection costs for liquidity providers</a:t>
            </a:r>
            <a:endParaRPr lang="en-US" sz="1600" dirty="0"/>
          </a:p>
        </p:txBody>
      </p:sp>
      <p:sp>
        <p:nvSpPr>
          <p:cNvPr id="9" name="Text 6"/>
          <p:cNvSpPr txBox="1"/>
          <p:nvPr/>
        </p:nvSpPr>
        <p:spPr>
          <a:xfrm>
            <a:off x="914400" y="4114800"/>
            <a:ext cx="4663440" cy="548640"/>
          </a:xfrm>
          <a:prstGeom prst="rect">
            <a:avLst/>
          </a:prstGeom>
          <a:noFill/>
          <a:ln/>
        </p:spPr>
        <p:txBody>
          <a:bodyPr wrap="square" lIns="0" tIns="0" rIns="0" bIns="0" rtlCol="0" anchor="ctr"/>
          <a:lstStyle/>
          <a:p>
            <a:pPr indent="0" marL="0">
              <a:buNone/>
            </a:pPr>
            <a:r>
              <a:rPr lang="en-US" sz="2000" b="1" dirty="0">
                <a:solidFill>
                  <a:schemeClr val="accent2"/>
                </a:solidFill>
              </a:rPr>
              <a:t>Volatility ↑   Spreads ↑   Efficiency ↓</a:t>
            </a:r>
            <a:endParaRPr lang="en-US" sz="2000" dirty="0"/>
          </a:p>
        </p:txBody>
      </p:sp>
      <p:sp>
        <p:nvSpPr>
          <p:cNvPr id="10" name="Text 7"/>
          <p:cNvSpPr txBox="1"/>
          <p:nvPr/>
        </p:nvSpPr>
        <p:spPr>
          <a:xfrm>
            <a:off x="914400" y="5349240"/>
            <a:ext cx="4663440" cy="365760"/>
          </a:xfrm>
          <a:prstGeom prst="rect">
            <a:avLst/>
          </a:prstGeom>
          <a:noFill/>
          <a:ln/>
        </p:spPr>
        <p:txBody>
          <a:bodyPr wrap="square" lIns="0" tIns="0" rIns="0" bIns="0" rtlCol="0" anchor="ctr"/>
          <a:lstStyle/>
          <a:p>
            <a:pPr indent="0" marL="0">
              <a:buNone/>
            </a:pPr>
            <a:r>
              <a:rPr lang="en-US" sz="1100" dirty="0">
                <a:solidFill>
                  <a:srgbClr val="6B7280"/>
                </a:solidFill>
              </a:rPr>
              <a:t>Malamud (2015); Ben-David et al. (2018); Foucault et al. (2017)</a:t>
            </a:r>
            <a:endParaRPr lang="en-US" sz="1100" dirty="0"/>
          </a:p>
        </p:txBody>
      </p:sp>
      <p:sp>
        <p:nvSpPr>
          <p:cNvPr id="11" name="Information linkage card"/>
          <p:cNvSpPr/>
          <p:nvPr/>
        </p:nvSpPr>
        <p:spPr>
          <a:xfrm>
            <a:off x="6217920" y="1371600"/>
            <a:ext cx="5394960" cy="4663440"/>
          </a:xfrm>
          <a:prstGeom prst="roundRect">
            <a:avLst>
              <a:gd name="adj" fmla="val 2353"/>
            </a:avLst>
          </a:prstGeom>
          <a:solidFill>
            <a:schemeClr val="bg2"/>
          </a:solidFill>
          <a:ln w="12700">
            <a:solidFill>
              <a:schemeClr val="bg2"/>
            </a:solidFill>
            <a:prstDash val="solid"/>
          </a:ln>
        </p:spPr>
      </p:sp>
      <p:sp>
        <p:nvSpPr>
          <p:cNvPr id="12" name="Information linkage circle"/>
          <p:cNvSpPr/>
          <p:nvPr/>
        </p:nvSpPr>
        <p:spPr>
          <a:xfrm>
            <a:off x="6537960" y="1645920"/>
            <a:ext cx="731520" cy="731520"/>
          </a:xfrm>
          <a:prstGeom prst="ellipse">
            <a:avLst/>
          </a:prstGeom>
          <a:solidFill>
            <a:schemeClr val="accent1"/>
          </a:solidFill>
          <a:ln w="12700">
            <a:solidFill>
              <a:schemeClr val="accent1"/>
            </a:solidFill>
            <a:prstDash val="solid"/>
          </a:ln>
        </p:spPr>
      </p:sp>
      <p:pic>
        <p:nvPicPr>
          <p:cNvPr id="13" name="Information linkage icon" descr="preencoded.png">    </p:cNvPr>
          <p:cNvPicPr>
            <a:picLocks noChangeAspect="1"/>
          </p:cNvPicPr>
          <p:nvPr/>
        </p:nvPicPr>
        <p:blipFill>
          <a:blip r:embed="rId2"/>
          <a:stretch>
            <a:fillRect/>
          </a:stretch>
        </p:blipFill>
        <p:spPr>
          <a:xfrm>
            <a:off x="6713525" y="1821485"/>
            <a:ext cx="380390" cy="380390"/>
          </a:xfrm>
          <a:prstGeom prst="rect">
            <a:avLst/>
          </a:prstGeom>
        </p:spPr>
      </p:pic>
      <p:sp>
        <p:nvSpPr>
          <p:cNvPr id="14" name="Text 10"/>
          <p:cNvSpPr txBox="1"/>
          <p:nvPr/>
        </p:nvSpPr>
        <p:spPr>
          <a:xfrm>
            <a:off x="7452360" y="1645920"/>
            <a:ext cx="3931920" cy="411480"/>
          </a:xfrm>
          <a:prstGeom prst="rect">
            <a:avLst/>
          </a:prstGeom>
          <a:noFill/>
          <a:ln/>
        </p:spPr>
        <p:txBody>
          <a:bodyPr wrap="square" lIns="0" tIns="0" rIns="0" bIns="0" rtlCol="0" anchor="ctr"/>
          <a:lstStyle/>
          <a:p>
            <a:pPr indent="0" marL="0">
              <a:buNone/>
            </a:pPr>
            <a:r>
              <a:rPr lang="en-US" sz="2200" b="1" dirty="0">
                <a:solidFill>
                  <a:schemeClr val="tx2"/>
                </a:solidFill>
              </a:rPr>
              <a:t>Information linkage</a:t>
            </a:r>
            <a:endParaRPr lang="en-US" sz="2200" dirty="0"/>
          </a:p>
        </p:txBody>
      </p:sp>
      <p:sp>
        <p:nvSpPr>
          <p:cNvPr id="15" name="Text 11"/>
          <p:cNvSpPr txBox="1"/>
          <p:nvPr/>
        </p:nvSpPr>
        <p:spPr>
          <a:xfrm>
            <a:off x="7452360" y="2057400"/>
            <a:ext cx="3931920" cy="320040"/>
          </a:xfrm>
          <a:prstGeom prst="rect">
            <a:avLst/>
          </a:prstGeom>
          <a:noFill/>
          <a:ln/>
        </p:spPr>
        <p:txBody>
          <a:bodyPr wrap="square" lIns="0" tIns="0" rIns="0" bIns="0" rtlCol="0" anchor="ctr"/>
          <a:lstStyle/>
          <a:p>
            <a:pPr indent="0" marL="0">
              <a:buNone/>
            </a:pPr>
            <a:r>
              <a:rPr lang="en-US" sz="1400" dirty="0">
                <a:solidFill>
                  <a:srgbClr val="6B7280"/>
                </a:solidFill>
              </a:rPr>
              <a:t>HFTs on the secondary market</a:t>
            </a:r>
            <a:endParaRPr lang="en-US" sz="1400" dirty="0"/>
          </a:p>
        </p:txBody>
      </p:sp>
      <p:sp>
        <p:nvSpPr>
          <p:cNvPr id="16" name="Text 12"/>
          <p:cNvSpPr txBox="1"/>
          <p:nvPr/>
        </p:nvSpPr>
        <p:spPr>
          <a:xfrm>
            <a:off x="6583680" y="2697480"/>
            <a:ext cx="4663440" cy="1280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ETF quotes aggregate information about the whole basket</a:t>
            </a:r>
            <a:endParaRPr lang="en-US" sz="1600" dirty="0"/>
          </a:p>
          <a:p>
            <a:pPr marL="342900" indent="-342900">
              <a:spcAft>
                <a:spcPts val="800"/>
              </a:spcAft>
              <a:buSzPct val="100000"/>
              <a:buChar char="•"/>
            </a:pPr>
            <a:r>
              <a:rPr lang="en-US" sz="1600" dirty="0">
                <a:solidFill>
                  <a:schemeClr val="tx1"/>
                </a:solidFill>
              </a:rPr>
              <a:t>Stock prices adjust through quotes, without heavy trading</a:t>
            </a:r>
            <a:endParaRPr lang="en-US" sz="1600" dirty="0"/>
          </a:p>
        </p:txBody>
      </p:sp>
      <p:sp>
        <p:nvSpPr>
          <p:cNvPr id="17" name="Text 13"/>
          <p:cNvSpPr txBox="1"/>
          <p:nvPr/>
        </p:nvSpPr>
        <p:spPr>
          <a:xfrm>
            <a:off x="6583680" y="4114800"/>
            <a:ext cx="4663440" cy="548640"/>
          </a:xfrm>
          <a:prstGeom prst="rect">
            <a:avLst/>
          </a:prstGeom>
          <a:noFill/>
          <a:ln/>
        </p:spPr>
        <p:txBody>
          <a:bodyPr wrap="square" lIns="0" tIns="0" rIns="0" bIns="0" rtlCol="0" anchor="ctr"/>
          <a:lstStyle/>
          <a:p>
            <a:pPr indent="0" marL="0">
              <a:buNone/>
            </a:pPr>
            <a:r>
              <a:rPr lang="en-US" sz="2000" b="1" dirty="0">
                <a:solidFill>
                  <a:schemeClr val="accent1"/>
                </a:solidFill>
              </a:rPr>
              <a:t>Spreads ↓   Efficiency ↑</a:t>
            </a:r>
            <a:endParaRPr lang="en-US" sz="2000" dirty="0"/>
          </a:p>
        </p:txBody>
      </p:sp>
      <p:sp>
        <p:nvSpPr>
          <p:cNvPr id="18" name="Text 14"/>
          <p:cNvSpPr txBox="1"/>
          <p:nvPr/>
        </p:nvSpPr>
        <p:spPr>
          <a:xfrm>
            <a:off x="6583680" y="5349240"/>
            <a:ext cx="4663440" cy="365760"/>
          </a:xfrm>
          <a:prstGeom prst="rect">
            <a:avLst/>
          </a:prstGeom>
          <a:noFill/>
          <a:ln/>
        </p:spPr>
        <p:txBody>
          <a:bodyPr wrap="square" lIns="0" tIns="0" rIns="0" bIns="0" rtlCol="0" anchor="ctr"/>
          <a:lstStyle/>
          <a:p>
            <a:pPr indent="0" marL="0">
              <a:buNone/>
            </a:pPr>
            <a:r>
              <a:rPr lang="en-US" sz="1100" dirty="0">
                <a:solidFill>
                  <a:srgbClr val="6B7280"/>
                </a:solidFill>
              </a:rPr>
              <a:t>Fremault (1991); Grossman (1992); Madhavan (1996)</a:t>
            </a:r>
            <a:endParaRPr lang="en-US" sz="11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Three questions, three datasets</a:t>
            </a:r>
            <a:endParaRPr lang="en-US" sz="3200" dirty="0"/>
          </a:p>
        </p:txBody>
      </p:sp>
      <p:sp>
        <p:nvSpPr>
          <p:cNvPr id="3" name="Question card 1"/>
          <p:cNvSpPr/>
          <p:nvPr/>
        </p:nvSpPr>
        <p:spPr>
          <a:xfrm>
            <a:off x="548640" y="1371600"/>
            <a:ext cx="11094415" cy="1371600"/>
          </a:xfrm>
          <a:prstGeom prst="roundRect">
            <a:avLst>
              <a:gd name="adj" fmla="val 8000"/>
            </a:avLst>
          </a:prstGeom>
          <a:solidFill>
            <a:schemeClr val="bg2"/>
          </a:solidFill>
          <a:ln w="12700">
            <a:solidFill>
              <a:schemeClr val="bg2"/>
            </a:solidFill>
            <a:prstDash val="solid"/>
          </a:ln>
        </p:spPr>
      </p:sp>
      <p:sp>
        <p:nvSpPr>
          <p:cNvPr id="4" name="Q1 circle"/>
          <p:cNvSpPr/>
          <p:nvPr/>
        </p:nvSpPr>
        <p:spPr>
          <a:xfrm>
            <a:off x="868680" y="1691640"/>
            <a:ext cx="731520" cy="731520"/>
          </a:xfrm>
          <a:prstGeom prst="ellipse">
            <a:avLst/>
          </a:prstGeom>
          <a:solidFill>
            <a:schemeClr val="accent1"/>
          </a:solidFill>
          <a:ln w="12700">
            <a:solidFill>
              <a:schemeClr val="accent1"/>
            </a:solidFill>
            <a:prstDash val="solid"/>
          </a:ln>
        </p:spPr>
      </p:sp>
      <p:pic>
        <p:nvPicPr>
          <p:cNvPr id="5" name="Q1 icon" descr="preencoded.png">    </p:cNvPr>
          <p:cNvPicPr>
            <a:picLocks noChangeAspect="1"/>
          </p:cNvPicPr>
          <p:nvPr/>
        </p:nvPicPr>
        <p:blipFill>
          <a:blip r:embed="rId1"/>
          <a:stretch>
            <a:fillRect/>
          </a:stretch>
        </p:blipFill>
        <p:spPr>
          <a:xfrm>
            <a:off x="1044245" y="1867205"/>
            <a:ext cx="380390" cy="380390"/>
          </a:xfrm>
          <a:prstGeom prst="rect">
            <a:avLst/>
          </a:prstGeom>
        </p:spPr>
      </p:pic>
      <p:sp>
        <p:nvSpPr>
          <p:cNvPr id="6" name="Text 3"/>
          <p:cNvSpPr txBox="1"/>
          <p:nvPr/>
        </p:nvSpPr>
        <p:spPr>
          <a:xfrm>
            <a:off x="1874520" y="1554480"/>
            <a:ext cx="9448495" cy="457200"/>
          </a:xfrm>
          <a:prstGeom prst="rect">
            <a:avLst/>
          </a:prstGeom>
          <a:noFill/>
          <a:ln/>
        </p:spPr>
        <p:txBody>
          <a:bodyPr wrap="square" lIns="0" tIns="0" rIns="0" bIns="0" rtlCol="0" anchor="ctr"/>
          <a:lstStyle/>
          <a:p>
            <a:pPr indent="0" marL="0">
              <a:buNone/>
            </a:pPr>
            <a:r>
              <a:rPr lang="en-US" sz="2000" b="1" dirty="0">
                <a:solidFill>
                  <a:schemeClr val="tx2"/>
                </a:solidFill>
              </a:rPr>
              <a:t>Q1  What drives primary vs. secondary ETF activity?</a:t>
            </a:r>
            <a:endParaRPr lang="en-US" sz="2000" dirty="0"/>
          </a:p>
        </p:txBody>
      </p:sp>
      <p:sp>
        <p:nvSpPr>
          <p:cNvPr id="7" name="Text 4"/>
          <p:cNvSpPr txBox="1"/>
          <p:nvPr/>
        </p:nvSpPr>
        <p:spPr>
          <a:xfrm>
            <a:off x="1874520" y="2057400"/>
            <a:ext cx="9448495" cy="502920"/>
          </a:xfrm>
          <a:prstGeom prst="rect">
            <a:avLst/>
          </a:prstGeom>
          <a:noFill/>
          <a:ln/>
        </p:spPr>
        <p:txBody>
          <a:bodyPr wrap="square" lIns="0" tIns="0" rIns="0" bIns="0" rtlCol="0" anchor="ctr"/>
          <a:lstStyle/>
          <a:p>
            <a:pPr indent="0" marL="0">
              <a:buNone/>
            </a:pPr>
            <a:r>
              <a:rPr lang="en-US" sz="1500" dirty="0">
                <a:solidFill>
                  <a:schemeClr val="tx1"/>
                </a:solidFill>
              </a:rPr>
              <a:t>Euronext Paris, 2015 · 34 large ETFs (93% of ETF volume) · trade-level HFT flag (AMF / BEDOFIH)</a:t>
            </a:r>
            <a:endParaRPr lang="en-US" sz="1500" dirty="0"/>
          </a:p>
        </p:txBody>
      </p:sp>
      <p:sp>
        <p:nvSpPr>
          <p:cNvPr id="8" name="Question card 2"/>
          <p:cNvSpPr/>
          <p:nvPr/>
        </p:nvSpPr>
        <p:spPr>
          <a:xfrm>
            <a:off x="548640" y="2971800"/>
            <a:ext cx="11094415" cy="1371600"/>
          </a:xfrm>
          <a:prstGeom prst="roundRect">
            <a:avLst>
              <a:gd name="adj" fmla="val 8000"/>
            </a:avLst>
          </a:prstGeom>
          <a:solidFill>
            <a:schemeClr val="bg2"/>
          </a:solidFill>
          <a:ln w="12700">
            <a:solidFill>
              <a:schemeClr val="bg2"/>
            </a:solidFill>
            <a:prstDash val="solid"/>
          </a:ln>
        </p:spPr>
      </p:sp>
      <p:sp>
        <p:nvSpPr>
          <p:cNvPr id="9" name="Q2 circle"/>
          <p:cNvSpPr/>
          <p:nvPr/>
        </p:nvSpPr>
        <p:spPr>
          <a:xfrm>
            <a:off x="868680" y="3291840"/>
            <a:ext cx="731520" cy="731520"/>
          </a:xfrm>
          <a:prstGeom prst="ellipse">
            <a:avLst/>
          </a:prstGeom>
          <a:solidFill>
            <a:schemeClr val="accent3"/>
          </a:solidFill>
          <a:ln w="12700">
            <a:solidFill>
              <a:schemeClr val="accent3"/>
            </a:solidFill>
            <a:prstDash val="solid"/>
          </a:ln>
        </p:spPr>
      </p:sp>
      <p:pic>
        <p:nvPicPr>
          <p:cNvPr id="10" name="Q2 icon" descr="preencoded.png">    </p:cNvPr>
          <p:cNvPicPr>
            <a:picLocks noChangeAspect="1"/>
          </p:cNvPicPr>
          <p:nvPr/>
        </p:nvPicPr>
        <p:blipFill>
          <a:blip r:embed="rId2"/>
          <a:stretch>
            <a:fillRect/>
          </a:stretch>
        </p:blipFill>
        <p:spPr>
          <a:xfrm>
            <a:off x="1044245" y="3467405"/>
            <a:ext cx="380390" cy="380390"/>
          </a:xfrm>
          <a:prstGeom prst="rect">
            <a:avLst/>
          </a:prstGeom>
        </p:spPr>
      </p:pic>
      <p:sp>
        <p:nvSpPr>
          <p:cNvPr id="11" name="Text 7"/>
          <p:cNvSpPr txBox="1"/>
          <p:nvPr/>
        </p:nvSpPr>
        <p:spPr>
          <a:xfrm>
            <a:off x="1874520" y="3154680"/>
            <a:ext cx="9448495" cy="457200"/>
          </a:xfrm>
          <a:prstGeom prst="rect">
            <a:avLst/>
          </a:prstGeom>
          <a:noFill/>
          <a:ln/>
        </p:spPr>
        <p:txBody>
          <a:bodyPr wrap="square" lIns="0" tIns="0" rIns="0" bIns="0" rtlCol="0" anchor="ctr"/>
          <a:lstStyle/>
          <a:p>
            <a:pPr indent="0" marL="0">
              <a:buNone/>
            </a:pPr>
            <a:r>
              <a:rPr lang="en-US" sz="2000" b="1" dirty="0">
                <a:solidFill>
                  <a:schemeClr val="tx2"/>
                </a:solidFill>
              </a:rPr>
              <a:t>Q2  How does each relate to the constituents' market quality?</a:t>
            </a:r>
            <a:endParaRPr lang="en-US" sz="2000" dirty="0"/>
          </a:p>
        </p:txBody>
      </p:sp>
      <p:sp>
        <p:nvSpPr>
          <p:cNvPr id="12" name="Text 8"/>
          <p:cNvSpPr txBox="1"/>
          <p:nvPr/>
        </p:nvSpPr>
        <p:spPr>
          <a:xfrm>
            <a:off x="1874520" y="3657600"/>
            <a:ext cx="9448495" cy="502920"/>
          </a:xfrm>
          <a:prstGeom prst="rect">
            <a:avLst/>
          </a:prstGeom>
          <a:noFill/>
          <a:ln/>
        </p:spPr>
        <p:txBody>
          <a:bodyPr wrap="square" lIns="0" tIns="0" rIns="0" bIns="0" rtlCol="0" anchor="ctr"/>
          <a:lstStyle/>
          <a:p>
            <a:pPr indent="0" marL="0">
              <a:buNone/>
            </a:pPr>
            <a:r>
              <a:rPr lang="en-US" sz="1500" dirty="0">
                <a:solidFill>
                  <a:schemeClr val="tx1"/>
                </a:solidFill>
              </a:rPr>
              <a:t>Lyxor CAC 40 ETF + 38 CAC 40 stocks · 5-minute quotes (LSEG) · volatility, spread, depth, resiliency, efficiency</a:t>
            </a:r>
            <a:endParaRPr lang="en-US" sz="1500" dirty="0"/>
          </a:p>
        </p:txBody>
      </p:sp>
      <p:sp>
        <p:nvSpPr>
          <p:cNvPr id="13" name="Question card 3"/>
          <p:cNvSpPr/>
          <p:nvPr/>
        </p:nvSpPr>
        <p:spPr>
          <a:xfrm>
            <a:off x="548640" y="4572000"/>
            <a:ext cx="11094415" cy="1371600"/>
          </a:xfrm>
          <a:prstGeom prst="roundRect">
            <a:avLst>
              <a:gd name="adj" fmla="val 8000"/>
            </a:avLst>
          </a:prstGeom>
          <a:solidFill>
            <a:schemeClr val="bg2"/>
          </a:solidFill>
          <a:ln w="12700">
            <a:solidFill>
              <a:schemeClr val="bg2"/>
            </a:solidFill>
            <a:prstDash val="solid"/>
          </a:ln>
        </p:spPr>
      </p:sp>
      <p:sp>
        <p:nvSpPr>
          <p:cNvPr id="14" name="Q3 circle"/>
          <p:cNvSpPr/>
          <p:nvPr/>
        </p:nvSpPr>
        <p:spPr>
          <a:xfrm>
            <a:off x="868680" y="4892040"/>
            <a:ext cx="731520" cy="731520"/>
          </a:xfrm>
          <a:prstGeom prst="ellipse">
            <a:avLst/>
          </a:prstGeom>
          <a:solidFill>
            <a:schemeClr val="accent2"/>
          </a:solidFill>
          <a:ln w="12700">
            <a:solidFill>
              <a:schemeClr val="accent2"/>
            </a:solidFill>
            <a:prstDash val="solid"/>
          </a:ln>
        </p:spPr>
      </p:sp>
      <p:pic>
        <p:nvPicPr>
          <p:cNvPr id="15" name="Q3 icon" descr="preencoded.png">    </p:cNvPr>
          <p:cNvPicPr>
            <a:picLocks noChangeAspect="1"/>
          </p:cNvPicPr>
          <p:nvPr/>
        </p:nvPicPr>
        <p:blipFill>
          <a:blip r:embed="rId3"/>
          <a:stretch>
            <a:fillRect/>
          </a:stretch>
        </p:blipFill>
        <p:spPr>
          <a:xfrm>
            <a:off x="1044245" y="5067605"/>
            <a:ext cx="380390" cy="380390"/>
          </a:xfrm>
          <a:prstGeom prst="rect">
            <a:avLst/>
          </a:prstGeom>
        </p:spPr>
      </p:pic>
      <p:sp>
        <p:nvSpPr>
          <p:cNvPr id="16" name="Text 11"/>
          <p:cNvSpPr txBox="1"/>
          <p:nvPr/>
        </p:nvSpPr>
        <p:spPr>
          <a:xfrm>
            <a:off x="1874520" y="4754880"/>
            <a:ext cx="9448495" cy="457200"/>
          </a:xfrm>
          <a:prstGeom prst="rect">
            <a:avLst/>
          </a:prstGeom>
          <a:noFill/>
          <a:ln/>
        </p:spPr>
        <p:txBody>
          <a:bodyPr wrap="square" lIns="0" tIns="0" rIns="0" bIns="0" rtlCol="0" anchor="ctr"/>
          <a:lstStyle/>
          <a:p>
            <a:pPr indent="0" marL="0">
              <a:buNone/>
            </a:pPr>
            <a:r>
              <a:rPr lang="en-US" sz="2000" b="1" dirty="0">
                <a:solidFill>
                  <a:schemeClr val="tx2"/>
                </a:solidFill>
              </a:rPr>
              <a:t>Q3  Is the primary-market effect causal?</a:t>
            </a:r>
            <a:endParaRPr lang="en-US" sz="2000" dirty="0"/>
          </a:p>
        </p:txBody>
      </p:sp>
      <p:sp>
        <p:nvSpPr>
          <p:cNvPr id="17" name="Text 12"/>
          <p:cNvSpPr txBox="1"/>
          <p:nvPr/>
        </p:nvSpPr>
        <p:spPr>
          <a:xfrm>
            <a:off x="1874520" y="5257800"/>
            <a:ext cx="9448495" cy="502920"/>
          </a:xfrm>
          <a:prstGeom prst="rect">
            <a:avLst/>
          </a:prstGeom>
          <a:noFill/>
          <a:ln/>
        </p:spPr>
        <p:txBody>
          <a:bodyPr wrap="square" lIns="0" tIns="0" rIns="0" bIns="0" rtlCol="0" anchor="ctr"/>
          <a:lstStyle/>
          <a:p>
            <a:pPr indent="0" marL="0">
              <a:buNone/>
            </a:pPr>
            <a:r>
              <a:rPr lang="en-US" sz="1500" dirty="0">
                <a:solidFill>
                  <a:schemeClr val="tx1"/>
                </a:solidFill>
              </a:rPr>
              <a:t>Japan, Sep 2010 – Sep 2016 · 2,173 TOPIX &amp; Nikkei 225 stocks · Bank of Japan ETF purchases as the shock</a:t>
            </a:r>
            <a:endParaRPr lang="en-US" sz="15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Measures and estimation</a:t>
            </a:r>
            <a:endParaRPr lang="en-US" sz="3200" dirty="0"/>
          </a:p>
        </p:txBody>
      </p:sp>
      <p:sp>
        <p:nvSpPr>
          <p:cNvPr id="3" name="Measures card"/>
          <p:cNvSpPr/>
          <p:nvPr/>
        </p:nvSpPr>
        <p:spPr>
          <a:xfrm>
            <a:off x="548640" y="1371600"/>
            <a:ext cx="5532120" cy="3154680"/>
          </a:xfrm>
          <a:prstGeom prst="roundRect">
            <a:avLst>
              <a:gd name="adj" fmla="val 3478"/>
            </a:avLst>
          </a:prstGeom>
          <a:solidFill>
            <a:schemeClr val="bg2"/>
          </a:solidFill>
          <a:ln w="12700">
            <a:solidFill>
              <a:schemeClr val="bg2"/>
            </a:solidFill>
            <a:prstDash val="solid"/>
          </a:ln>
        </p:spPr>
      </p:sp>
      <p:sp>
        <p:nvSpPr>
          <p:cNvPr id="4" name="Text 2"/>
          <p:cNvSpPr txBox="1"/>
          <p:nvPr/>
        </p:nvSpPr>
        <p:spPr>
          <a:xfrm>
            <a:off x="868680" y="1554480"/>
            <a:ext cx="4937760" cy="411480"/>
          </a:xfrm>
          <a:prstGeom prst="rect">
            <a:avLst/>
          </a:prstGeom>
          <a:noFill/>
          <a:ln/>
        </p:spPr>
        <p:txBody>
          <a:bodyPr wrap="square" lIns="0" tIns="0" rIns="0" bIns="0" rtlCol="0" anchor="ctr"/>
          <a:lstStyle/>
          <a:p>
            <a:pPr indent="0" marL="0">
              <a:buNone/>
            </a:pPr>
            <a:r>
              <a:rPr lang="en-US" sz="2000" b="1" dirty="0">
                <a:solidFill>
                  <a:schemeClr val="tx2"/>
                </a:solidFill>
              </a:rPr>
              <a:t>Key measures</a:t>
            </a:r>
            <a:endParaRPr lang="en-US" sz="2000" dirty="0"/>
          </a:p>
        </p:txBody>
      </p:sp>
      <p:sp>
        <p:nvSpPr>
          <p:cNvPr id="5" name="Text 3"/>
          <p:cNvSpPr txBox="1"/>
          <p:nvPr/>
        </p:nvSpPr>
        <p:spPr>
          <a:xfrm>
            <a:off x="868680" y="2103120"/>
            <a:ext cx="4937760" cy="228600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1"/>
                </a:solidFill>
              </a:rPr>
              <a:t>PMActivity</a:t>
            </a:r>
            <a:pPr indent="0" marL="0">
              <a:buNone/>
            </a:pPr>
            <a:r>
              <a:rPr lang="en-US" sz="1500" dirty="0">
                <a:solidFill>
                  <a:schemeClr val="tx1"/>
                </a:solidFill>
              </a:rPr>
              <a:t> = Δ units outstanding / units(t−1)</a:t>
            </a:r>
            <a:endParaRPr lang="en-US" sz="1500" dirty="0"/>
          </a:p>
          <a:p>
            <a:pPr marL="342900" indent="-342900">
              <a:spcAft>
                <a:spcPts val="800"/>
              </a:spcAft>
              <a:buSzPct val="100000"/>
              <a:buChar char="•"/>
            </a:pPr>
            <a:r>
              <a:rPr lang="en-US" sz="1500" b="1" dirty="0">
                <a:solidFill>
                  <a:schemeClr val="tx1"/>
                </a:solidFill>
              </a:rPr>
              <a:t>HFTActivity</a:t>
            </a:r>
            <a:pPr indent="0" marL="0">
              <a:buNone/>
            </a:pPr>
            <a:r>
              <a:rPr lang="en-US" sz="1500" dirty="0">
                <a:solidFill>
                  <a:schemeClr val="tx1"/>
                </a:solidFill>
              </a:rPr>
              <a:t> = log(1 + units traded by HFTs)</a:t>
            </a:r>
            <a:endParaRPr lang="en-US" sz="1500" dirty="0"/>
          </a:p>
          <a:p>
            <a:pPr marL="342900" indent="-342900">
              <a:spcAft>
                <a:spcPts val="800"/>
              </a:spcAft>
              <a:buSzPct val="100000"/>
              <a:buChar char="•"/>
            </a:pPr>
            <a:r>
              <a:rPr lang="en-US" sz="1500" b="1" dirty="0">
                <a:solidFill>
                  <a:schemeClr val="tx1"/>
                </a:solidFill>
              </a:rPr>
              <a:t>ETFMispricing</a:t>
            </a:r>
            <a:pPr indent="0" marL="0">
              <a:buNone/>
            </a:pPr>
            <a:r>
              <a:rPr lang="en-US" sz="1500" dirty="0">
                <a:solidFill>
                  <a:schemeClr val="tx1"/>
                </a:solidFill>
              </a:rPr>
              <a:t> = (P − NAV) / NAV</a:t>
            </a:r>
            <a:endParaRPr lang="en-US" sz="1500" dirty="0"/>
          </a:p>
          <a:p>
            <a:pPr marL="342900" indent="-342900">
              <a:spcAft>
                <a:spcPts val="800"/>
              </a:spcAft>
              <a:buSzPct val="100000"/>
              <a:buChar char="•"/>
            </a:pPr>
            <a:r>
              <a:rPr lang="en-US" sz="1500" b="1" dirty="0">
                <a:solidFill>
                  <a:schemeClr val="tx1"/>
                </a:solidFill>
              </a:rPr>
              <a:t>ETFOwn</a:t>
            </a:r>
            <a:pPr indent="0" marL="0">
              <a:buNone/>
            </a:pPr>
            <a:r>
              <a:rPr lang="en-US" sz="1500" dirty="0">
                <a:solidFill>
                  <a:schemeClr val="tx1"/>
                </a:solidFill>
              </a:rPr>
              <a:t> = ETF holdings / stock market value</a:t>
            </a:r>
            <a:endParaRPr lang="en-US" sz="1500" dirty="0"/>
          </a:p>
          <a:p>
            <a:pPr marL="342900" indent="-342900">
              <a:spcAft>
                <a:spcPts val="800"/>
              </a:spcAft>
              <a:buSzPct val="100000"/>
              <a:buChar char="•"/>
            </a:pPr>
            <a:r>
              <a:rPr lang="en-US" sz="1500" b="1" dirty="0">
                <a:solidFill>
                  <a:schemeClr val="tx1"/>
                </a:solidFill>
              </a:rPr>
              <a:t>PMStockActivity</a:t>
            </a:r>
            <a:pPr indent="0" marL="0">
              <a:buNone/>
            </a:pPr>
            <a:r>
              <a:rPr lang="en-US" sz="1500" dirty="0">
                <a:solidFill>
                  <a:schemeClr val="tx1"/>
                </a:solidFill>
              </a:rPr>
              <a:t> = Σ BoJ purchases × weight / market value(t−22)</a:t>
            </a:r>
            <a:endParaRPr lang="en-US" sz="1500" dirty="0"/>
          </a:p>
        </p:txBody>
      </p:sp>
      <p:sp>
        <p:nvSpPr>
          <p:cNvPr id="6" name="Estimation card"/>
          <p:cNvSpPr/>
          <p:nvPr/>
        </p:nvSpPr>
        <p:spPr>
          <a:xfrm>
            <a:off x="6355080" y="1371600"/>
            <a:ext cx="5287975" cy="3154680"/>
          </a:xfrm>
          <a:prstGeom prst="roundRect">
            <a:avLst>
              <a:gd name="adj" fmla="val 3478"/>
            </a:avLst>
          </a:prstGeom>
          <a:solidFill>
            <a:schemeClr val="bg2"/>
          </a:solidFill>
          <a:ln w="12700">
            <a:solidFill>
              <a:schemeClr val="bg2"/>
            </a:solidFill>
            <a:prstDash val="solid"/>
          </a:ln>
        </p:spPr>
      </p:sp>
      <p:sp>
        <p:nvSpPr>
          <p:cNvPr id="7" name="Text 5"/>
          <p:cNvSpPr txBox="1"/>
          <p:nvPr/>
        </p:nvSpPr>
        <p:spPr>
          <a:xfrm>
            <a:off x="6675120" y="1554480"/>
            <a:ext cx="4647895" cy="411480"/>
          </a:xfrm>
          <a:prstGeom prst="rect">
            <a:avLst/>
          </a:prstGeom>
          <a:noFill/>
          <a:ln/>
        </p:spPr>
        <p:txBody>
          <a:bodyPr wrap="square" lIns="0" tIns="0" rIns="0" bIns="0" rtlCol="0" anchor="ctr"/>
          <a:lstStyle/>
          <a:p>
            <a:pPr indent="0" marL="0">
              <a:buNone/>
            </a:pPr>
            <a:r>
              <a:rPr lang="en-US" sz="2000" b="1" dirty="0">
                <a:solidFill>
                  <a:schemeClr val="tx2"/>
                </a:solidFill>
              </a:rPr>
              <a:t>Estimation</a:t>
            </a:r>
            <a:endParaRPr lang="en-US" sz="2000" dirty="0"/>
          </a:p>
        </p:txBody>
      </p:sp>
      <p:sp>
        <p:nvSpPr>
          <p:cNvPr id="8" name="Text 6"/>
          <p:cNvSpPr txBox="1"/>
          <p:nvPr/>
        </p:nvSpPr>
        <p:spPr>
          <a:xfrm>
            <a:off x="6675120" y="2103120"/>
            <a:ext cx="4647895"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Panel OLS with entity (ETF or stock) and day fixed effects</a:t>
            </a:r>
            <a:endParaRPr lang="en-US" sz="1500" dirty="0"/>
          </a:p>
          <a:p>
            <a:pPr marL="342900" indent="-342900">
              <a:spcAft>
                <a:spcPts val="800"/>
              </a:spcAft>
              <a:buSzPct val="100000"/>
              <a:buChar char="•"/>
            </a:pPr>
            <a:r>
              <a:rPr lang="en-US" sz="1500" dirty="0">
                <a:solidFill>
                  <a:schemeClr val="tx1"/>
                </a:solidFill>
              </a:rPr>
              <a:t>Standard errors double-clustered by entity and day</a:t>
            </a:r>
            <a:endParaRPr lang="en-US" sz="1500" dirty="0"/>
          </a:p>
          <a:p>
            <a:pPr marL="342900" indent="-342900">
              <a:spcAft>
                <a:spcPts val="800"/>
              </a:spcAft>
              <a:buSzPct val="100000"/>
              <a:buChar char="•"/>
            </a:pPr>
            <a:r>
              <a:rPr lang="en-US" sz="1500" dirty="0">
                <a:solidFill>
                  <a:schemeClr val="tx1"/>
                </a:solidFill>
              </a:rPr>
              <a:t>Stock tests: Y = β₁ ETFOwn×|PMActivity| + β₂ ETFOwn×HFTActivity + controls</a:t>
            </a:r>
            <a:endParaRPr lang="en-US" sz="1500" dirty="0"/>
          </a:p>
          <a:p>
            <a:pPr marL="342900" indent="-342900">
              <a:spcAft>
                <a:spcPts val="800"/>
              </a:spcAft>
              <a:buSzPct val="100000"/>
              <a:buChar char="•"/>
            </a:pPr>
            <a:r>
              <a:rPr lang="en-US" sz="1500" dirty="0">
                <a:solidFill>
                  <a:schemeClr val="tx1"/>
                </a:solidFill>
              </a:rPr>
              <a:t>Japan: BoJ purchase days only; placebo on other days; Z-test of the difference</a:t>
            </a:r>
            <a:endParaRPr lang="en-US" sz="1500" dirty="0"/>
          </a:p>
          <a:p>
            <a:pPr marL="342900" indent="-342900">
              <a:spcAft>
                <a:spcPts val="800"/>
              </a:spcAft>
              <a:buSzPct val="100000"/>
              <a:buChar char="•"/>
            </a:pPr>
            <a:r>
              <a:rPr lang="en-US" sz="1500" dirty="0">
                <a:solidFill>
                  <a:schemeClr val="tx1"/>
                </a:solidFill>
              </a:rPr>
              <a:t>All variables winsorised at 1% / 99%</a:t>
            </a:r>
            <a:endParaRPr lang="en-US" sz="1500" dirty="0"/>
          </a:p>
        </p:txBody>
      </p:sp>
      <p:sp>
        <p:nvSpPr>
          <p:cNvPr id="9" name="Notebook card"/>
          <p:cNvSpPr/>
          <p:nvPr/>
        </p:nvSpPr>
        <p:spPr>
          <a:xfrm>
            <a:off x="548640" y="4754880"/>
            <a:ext cx="11094415" cy="1325880"/>
          </a:xfrm>
          <a:prstGeom prst="roundRect">
            <a:avLst>
              <a:gd name="adj" fmla="val 8276"/>
            </a:avLst>
          </a:prstGeom>
          <a:solidFill>
            <a:srgbClr val="DCEAFB"/>
          </a:solidFill>
          <a:ln w="12700">
            <a:solidFill>
              <a:srgbClr val="DCEAFB"/>
            </a:solidFill>
            <a:prstDash val="solid"/>
          </a:ln>
        </p:spPr>
      </p:sp>
      <p:sp>
        <p:nvSpPr>
          <p:cNvPr id="10" name="Text 8"/>
          <p:cNvSpPr txBox="1"/>
          <p:nvPr/>
        </p:nvSpPr>
        <p:spPr>
          <a:xfrm>
            <a:off x="868680" y="4846320"/>
            <a:ext cx="10454335" cy="1143000"/>
          </a:xfrm>
          <a:prstGeom prst="rect">
            <a:avLst/>
          </a:prstGeom>
          <a:noFill/>
          <a:ln/>
        </p:spPr>
        <p:txBody>
          <a:bodyPr wrap="square" lIns="0" tIns="0" rIns="0" bIns="0" rtlCol="0" anchor="ctr"/>
          <a:lstStyle/>
          <a:p>
            <a:pPr indent="0" marL="0">
              <a:buNone/>
            </a:pPr>
            <a:r>
              <a:rPr lang="en-US" sz="1500" b="1" dirty="0">
                <a:solidFill>
                  <a:srgbClr val="14213D"/>
                </a:solidFill>
              </a:rPr>
              <a:t>In our notebook: </a:t>
            </a:r>
            <a:pPr indent="0" marL="0">
              <a:buNone/>
            </a:pPr>
            <a:r>
              <a:rPr lang="en-US" sz="1500" dirty="0">
                <a:solidFill>
                  <a:schemeClr val="tx1"/>
                </a:solidFill>
              </a:rPr>
              <a:t>the same estimator in ~40 lines of numpy (within transformation + Cameron–Gelbach–Miller two-way clustering). It matches linearmodels.PanelOLS and runs ~1,000× faster on the 600k-row Japanese panel.</a:t>
            </a:r>
            <a:endParaRPr lang="en-US" sz="15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HFTs dominate trading; APs rarely act</a:t>
            </a:r>
            <a:endParaRPr lang="en-US" sz="3200" dirty="0"/>
          </a:p>
        </p:txBody>
      </p:sp>
      <p:sp>
        <p:nvSpPr>
          <p:cNvPr id="3" name="Text 1"/>
          <p:cNvSpPr txBox="1"/>
          <p:nvPr/>
        </p:nvSpPr>
        <p:spPr>
          <a:xfrm>
            <a:off x="548640" y="1600200"/>
            <a:ext cx="3502152" cy="1188720"/>
          </a:xfrm>
          <a:prstGeom prst="rect">
            <a:avLst/>
          </a:prstGeom>
          <a:noFill/>
          <a:ln/>
        </p:spPr>
        <p:txBody>
          <a:bodyPr wrap="square" lIns="0" tIns="0" rIns="0" bIns="0" rtlCol="0" anchor="ctr"/>
          <a:lstStyle/>
          <a:p>
            <a:pPr indent="0" marL="0">
              <a:buNone/>
            </a:pPr>
            <a:r>
              <a:rPr lang="en-US" sz="6600" b="1" dirty="0">
                <a:solidFill>
                  <a:schemeClr val="accent2"/>
                </a:solidFill>
                <a:latin typeface="Cambria" pitchFamily="34" charset="0"/>
                <a:ea typeface="Cambria" pitchFamily="34" charset="-122"/>
                <a:cs typeface="Cambria" pitchFamily="34" charset="-120"/>
              </a:rPr>
              <a:t>32%</a:t>
            </a:r>
            <a:endParaRPr lang="en-US" sz="6600" dirty="0"/>
          </a:p>
        </p:txBody>
      </p:sp>
      <p:sp>
        <p:nvSpPr>
          <p:cNvPr id="4" name="Text 2"/>
          <p:cNvSpPr txBox="1"/>
          <p:nvPr/>
        </p:nvSpPr>
        <p:spPr>
          <a:xfrm>
            <a:off x="548640" y="2834640"/>
            <a:ext cx="3319272" cy="868680"/>
          </a:xfrm>
          <a:prstGeom prst="rect">
            <a:avLst/>
          </a:prstGeom>
          <a:noFill/>
          <a:ln/>
        </p:spPr>
        <p:txBody>
          <a:bodyPr wrap="square" lIns="0" tIns="0" rIns="0" bIns="0" rtlCol="0" anchor="t"/>
          <a:lstStyle/>
          <a:p>
            <a:pPr indent="0" marL="0">
              <a:buNone/>
            </a:pPr>
            <a:r>
              <a:rPr lang="en-US" sz="1600" dirty="0">
                <a:solidFill>
                  <a:schemeClr val="tx1"/>
                </a:solidFill>
              </a:rPr>
              <a:t>of ETF-days have any creation or redemption</a:t>
            </a:r>
            <a:endParaRPr lang="en-US" sz="1600" dirty="0"/>
          </a:p>
        </p:txBody>
      </p:sp>
      <p:sp>
        <p:nvSpPr>
          <p:cNvPr id="5" name="Text 3"/>
          <p:cNvSpPr txBox="1"/>
          <p:nvPr/>
        </p:nvSpPr>
        <p:spPr>
          <a:xfrm>
            <a:off x="4325112" y="1600200"/>
            <a:ext cx="3502152" cy="1188720"/>
          </a:xfrm>
          <a:prstGeom prst="rect">
            <a:avLst/>
          </a:prstGeom>
          <a:noFill/>
          <a:ln/>
        </p:spPr>
        <p:txBody>
          <a:bodyPr wrap="square" lIns="0" tIns="0" rIns="0" bIns="0" rtlCol="0" anchor="ctr"/>
          <a:lstStyle/>
          <a:p>
            <a:pPr indent="0" marL="0">
              <a:buNone/>
            </a:pPr>
            <a:r>
              <a:rPr lang="en-US" sz="6600" b="1" dirty="0">
                <a:solidFill>
                  <a:schemeClr val="accent2"/>
                </a:solidFill>
                <a:latin typeface="Cambria" pitchFamily="34" charset="0"/>
                <a:ea typeface="Cambria" pitchFamily="34" charset="-122"/>
                <a:cs typeface="Cambria" pitchFamily="34" charset="-120"/>
              </a:rPr>
              <a:t>13%</a:t>
            </a:r>
            <a:endParaRPr lang="en-US" sz="6600" dirty="0"/>
          </a:p>
        </p:txBody>
      </p:sp>
      <p:sp>
        <p:nvSpPr>
          <p:cNvPr id="6" name="Text 4"/>
          <p:cNvSpPr txBox="1"/>
          <p:nvPr/>
        </p:nvSpPr>
        <p:spPr>
          <a:xfrm>
            <a:off x="4325112" y="2834640"/>
            <a:ext cx="3319272" cy="868680"/>
          </a:xfrm>
          <a:prstGeom prst="rect">
            <a:avLst/>
          </a:prstGeom>
          <a:noFill/>
          <a:ln/>
        </p:spPr>
        <p:txBody>
          <a:bodyPr wrap="square" lIns="0" tIns="0" rIns="0" bIns="0" rtlCol="0" anchor="t"/>
          <a:lstStyle/>
          <a:p>
            <a:pPr indent="0" marL="0">
              <a:buNone/>
            </a:pPr>
            <a:r>
              <a:rPr lang="en-US" sz="1600" dirty="0">
                <a:solidFill>
                  <a:schemeClr val="tx1"/>
                </a:solidFill>
              </a:rPr>
              <a:t>primary-market volume relative to secondary-market volume</a:t>
            </a:r>
            <a:endParaRPr lang="en-US" sz="1600" dirty="0"/>
          </a:p>
        </p:txBody>
      </p:sp>
      <p:sp>
        <p:nvSpPr>
          <p:cNvPr id="7" name="Text 5"/>
          <p:cNvSpPr txBox="1"/>
          <p:nvPr/>
        </p:nvSpPr>
        <p:spPr>
          <a:xfrm>
            <a:off x="8101584" y="1600200"/>
            <a:ext cx="3502152" cy="1188720"/>
          </a:xfrm>
          <a:prstGeom prst="rect">
            <a:avLst/>
          </a:prstGeom>
          <a:noFill/>
          <a:ln/>
        </p:spPr>
        <p:txBody>
          <a:bodyPr wrap="square" lIns="0" tIns="0" rIns="0" bIns="0" rtlCol="0" anchor="ctr"/>
          <a:lstStyle/>
          <a:p>
            <a:pPr indent="0" marL="0">
              <a:buNone/>
            </a:pPr>
            <a:r>
              <a:rPr lang="en-US" sz="6600" b="1" dirty="0">
                <a:solidFill>
                  <a:schemeClr val="accent1"/>
                </a:solidFill>
                <a:latin typeface="Cambria" pitchFamily="34" charset="0"/>
                <a:ea typeface="Cambria" pitchFamily="34" charset="-122"/>
                <a:cs typeface="Cambria" pitchFamily="34" charset="-120"/>
              </a:rPr>
              <a:t>74%</a:t>
            </a:r>
            <a:endParaRPr lang="en-US" sz="6600" dirty="0"/>
          </a:p>
        </p:txBody>
      </p:sp>
      <p:sp>
        <p:nvSpPr>
          <p:cNvPr id="8" name="Text 6"/>
          <p:cNvSpPr txBox="1"/>
          <p:nvPr/>
        </p:nvSpPr>
        <p:spPr>
          <a:xfrm>
            <a:off x="8101584" y="2834640"/>
            <a:ext cx="3319272" cy="868680"/>
          </a:xfrm>
          <a:prstGeom prst="rect">
            <a:avLst/>
          </a:prstGeom>
          <a:noFill/>
          <a:ln/>
        </p:spPr>
        <p:txBody>
          <a:bodyPr wrap="square" lIns="0" tIns="0" rIns="0" bIns="0" rtlCol="0" anchor="t"/>
          <a:lstStyle/>
          <a:p>
            <a:pPr indent="0" marL="0">
              <a:buNone/>
            </a:pPr>
            <a:r>
              <a:rPr lang="en-US" sz="1600" dirty="0">
                <a:solidFill>
                  <a:schemeClr val="tx1"/>
                </a:solidFill>
              </a:rPr>
              <a:t>of ETF volume involves an HFT (vs. ≈50% in CAC 40 stocks)</a:t>
            </a:r>
            <a:endParaRPr lang="en-US" sz="1600" dirty="0"/>
          </a:p>
        </p:txBody>
      </p:sp>
      <p:sp>
        <p:nvSpPr>
          <p:cNvPr id="9" name="Implication card"/>
          <p:cNvSpPr/>
          <p:nvPr/>
        </p:nvSpPr>
        <p:spPr>
          <a:xfrm>
            <a:off x="548640" y="4114800"/>
            <a:ext cx="11094415" cy="1463040"/>
          </a:xfrm>
          <a:prstGeom prst="roundRect">
            <a:avLst>
              <a:gd name="adj" fmla="val 7500"/>
            </a:avLst>
          </a:prstGeom>
          <a:solidFill>
            <a:schemeClr val="bg2"/>
          </a:solidFill>
          <a:ln w="12700">
            <a:solidFill>
              <a:schemeClr val="bg2"/>
            </a:solidFill>
            <a:prstDash val="solid"/>
          </a:ln>
        </p:spPr>
      </p:sp>
      <p:sp>
        <p:nvSpPr>
          <p:cNvPr id="10" name="Text 8"/>
          <p:cNvSpPr txBox="1"/>
          <p:nvPr/>
        </p:nvSpPr>
        <p:spPr>
          <a:xfrm>
            <a:off x="868680" y="4251960"/>
            <a:ext cx="10454335" cy="1188720"/>
          </a:xfrm>
          <a:prstGeom prst="rect">
            <a:avLst/>
          </a:prstGeom>
          <a:noFill/>
          <a:ln/>
        </p:spPr>
        <p:txBody>
          <a:bodyPr wrap="square" lIns="0" tIns="0" rIns="0" bIns="0" rtlCol="0" anchor="ctr"/>
          <a:lstStyle/>
          <a:p>
            <a:pPr indent="0" marL="0">
              <a:buNone/>
            </a:pPr>
            <a:r>
              <a:rPr lang="en-US" sz="1600" b="1" dirty="0">
                <a:solidFill>
                  <a:schemeClr val="tx2"/>
                </a:solidFill>
              </a:rPr>
              <a:t>Implication: </a:t>
            </a:r>
            <a:pPr indent="0" marL="0">
              <a:buNone/>
            </a:pPr>
            <a:r>
              <a:rPr lang="en-US" sz="1600" dirty="0">
                <a:solidFill>
                  <a:schemeClr val="tx1"/>
                </a:solidFill>
              </a:rPr>
              <a:t>the activity regulators worry about (arbitrage) is infrequent and small; the activity that is everywhere (HFT) is not arbitrage at all. Euronext 2015; mispricing averages 0.005% with a 0.37% standard deviation.</a:t>
            </a:r>
            <a:endParaRPr lang="en-US" sz="16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Mispricing, not HFTs, drives creations</a:t>
            </a:r>
            <a:endParaRPr lang="en-US" sz="3200" dirty="0"/>
          </a:p>
        </p:txBody>
      </p:sp>
      <p:sp>
        <p:nvSpPr>
          <p:cNvPr id="3" name="Text 1"/>
          <p:cNvSpPr txBox="1"/>
          <p:nvPr/>
        </p:nvSpPr>
        <p:spPr>
          <a:xfrm>
            <a:off x="548640" y="1417320"/>
            <a:ext cx="4160520" cy="4572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+1 pp |mispricing| → </a:t>
            </a:r>
            <a:pPr indent="0" marL="0">
              <a:buNone/>
            </a:pPr>
            <a:r>
              <a:rPr lang="en-US" sz="1600" b="1" dirty="0">
                <a:solidFill>
                  <a:schemeClr val="tx1"/>
                </a:solidFill>
              </a:rPr>
              <a:t>+0.079 pp |PMActivity|**</a:t>
            </a:r>
            <a:pPr indent="0" marL="0">
              <a:buNone/>
            </a:pPr>
            <a:r>
              <a:rPr lang="en-US" sz="1600" dirty="0">
                <a:solidFill>
                  <a:schemeClr val="tx1"/>
                </a:solidFill>
              </a:rPr>
              <a:t> and +2.5 pp probability of creation/redemption</a:t>
            </a:r>
            <a:endParaRPr lang="en-US" sz="1600" dirty="0"/>
          </a:p>
          <a:p>
            <a:pPr marL="342900" indent="-342900">
              <a:spcAft>
                <a:spcPts val="800"/>
              </a:spcAft>
              <a:buSzPct val="100000"/>
              <a:buChar char="•"/>
            </a:pPr>
            <a:r>
              <a:rPr lang="en-US" sz="1600" b="1" dirty="0">
                <a:solidFill>
                  <a:schemeClr val="tx1"/>
                </a:solidFill>
              </a:rPr>
              <a:t>Threshold: </a:t>
            </a:r>
            <a:pPr indent="0" marL="0">
              <a:buNone/>
            </a:pPr>
            <a:r>
              <a:rPr lang="en-US" sz="1600" dirty="0">
                <a:solidFill>
                  <a:schemeClr val="tx1"/>
                </a:solidFill>
              </a:rPr>
              <a:t>above-median mispricing +0.143***, top tercile +0.121*** — limits to arbitrage</a:t>
            </a:r>
            <a:endParaRPr lang="en-US" sz="1600" dirty="0"/>
          </a:p>
          <a:p>
            <a:pPr marL="342900" indent="-342900">
              <a:spcAft>
                <a:spcPts val="800"/>
              </a:spcAft>
              <a:buSzPct val="100000"/>
              <a:buChar char="•"/>
            </a:pPr>
            <a:r>
              <a:rPr lang="en-US" sz="1600" b="1" dirty="0">
                <a:solidFill>
                  <a:schemeClr val="tx1"/>
                </a:solidFill>
              </a:rPr>
              <a:t>Direction: </a:t>
            </a:r>
            <a:pPr indent="0" marL="0">
              <a:buNone/>
            </a:pPr>
            <a:r>
              <a:rPr lang="en-US" sz="1600" dirty="0">
                <a:solidFill>
                  <a:schemeClr val="tx1"/>
                </a:solidFill>
              </a:rPr>
              <a:t>premium → creations, discount → redemptions (0.21–0.28)</a:t>
            </a:r>
            <a:endParaRPr lang="en-US" sz="1600" dirty="0"/>
          </a:p>
          <a:p>
            <a:pPr marL="342900" indent="-342900">
              <a:spcAft>
                <a:spcPts val="800"/>
              </a:spcAft>
              <a:buSzPct val="100000"/>
              <a:buChar char="•"/>
            </a:pPr>
            <a:r>
              <a:rPr lang="en-US" sz="1600" b="1" dirty="0">
                <a:solidFill>
                  <a:schemeClr val="tx1"/>
                </a:solidFill>
              </a:rPr>
              <a:t>HFTActivity: </a:t>
            </a:r>
            <a:pPr indent="0" marL="0">
              <a:buNone/>
            </a:pPr>
            <a:r>
              <a:rPr lang="en-US" sz="1600" dirty="0">
                <a:solidFill>
                  <a:schemeClr val="tx1"/>
                </a:solidFill>
              </a:rPr>
              <a:t>insignificant in every specification, both ways (Tables 3–4)</a:t>
            </a:r>
            <a:endParaRPr lang="en-US" sz="1600" dirty="0"/>
          </a:p>
        </p:txBody>
      </p:sp>
      <p:pic>
        <p:nvPicPr>
          <p:cNvPr id="4" name="Threshold figure" descr="/home/user/Finances/ETF_effects_The_role_of_primary_versus_secondary_market_activities/figures/sim_threshold.png">    </p:cNvPr>
          <p:cNvPicPr>
            <a:picLocks noChangeAspect="1"/>
          </p:cNvPicPr>
          <p:nvPr/>
        </p:nvPicPr>
        <p:blipFill>
          <a:blip r:embed="rId1"/>
          <a:stretch>
            <a:fillRect/>
          </a:stretch>
        </p:blipFill>
        <p:spPr>
          <a:xfrm>
            <a:off x="4983480" y="1600200"/>
            <a:ext cx="6656832" cy="2261152"/>
          </a:xfrm>
          <a:prstGeom prst="rect">
            <a:avLst/>
          </a:prstGeom>
        </p:spPr>
      </p:pic>
      <p:sp>
        <p:nvSpPr>
          <p:cNvPr id="5" name="Caption"/>
          <p:cNvSpPr txBox="1"/>
          <p:nvPr/>
        </p:nvSpPr>
        <p:spPr>
          <a:xfrm>
            <a:off x="4983480" y="4023360"/>
            <a:ext cx="6656832" cy="548640"/>
          </a:xfrm>
          <a:prstGeom prst="rect">
            <a:avLst/>
          </a:prstGeom>
          <a:noFill/>
          <a:ln/>
        </p:spPr>
        <p:txBody>
          <a:bodyPr wrap="square" lIns="0" tIns="0" rIns="0" bIns="0" rtlCol="0" anchor="ctr"/>
          <a:lstStyle/>
          <a:p>
            <a:pPr indent="0" marL="0">
              <a:buNone/>
            </a:pPr>
            <a:r>
              <a:rPr lang="en-US" sz="1100" i="1" dirty="0">
                <a:solidFill>
                  <a:srgbClr val="6B7280"/>
                </a:solidFill>
              </a:rPr>
              <a:t>Our simulation (notebook §2): creation probability and size rise once mispricing beats the arbitrage cost.</a:t>
            </a:r>
            <a:endParaRPr lang="en-US" sz="11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Arbitrage hurts stocks; HFT trading helps</a:t>
            </a:r>
            <a:endParaRPr lang="en-US" sz="3200" dirty="0"/>
          </a:p>
        </p:txBody>
      </p:sp>
      <p:graphicFrame>
        <p:nvGraphicFramePr>
          <p:cNvPr id="10" name="Table 5"/>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2377440"/>
                <a:gridCol w="2560320"/>
                <a:gridCol w="2560320"/>
              </a:tblGrid>
              <a:tr h="65836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Outcome (CAC 40 stocks)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ETFOwn × |PMActivity|  (APs)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ETFOwn × HFTActivity  (HFTs)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4213D"/>
                    </a:solidFill>
                  </a:tcPr>
                </a:tc>
              </a:tr>
              <a:tr h="658368">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Volatility</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+0.029**</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BE3D9"/>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+0.013</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658368">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Quoted spread</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+0.004**</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BE3D9"/>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−0.006***</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DCEAFB"/>
                    </a:solidFill>
                  </a:tcPr>
                </a:tc>
              </a:tr>
              <a:tr h="658368">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Depth</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+0.017</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+0.004</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658368">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Resiliency</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−0.098**</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BE3D9"/>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−0.068</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658368">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Inefficiency</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+0.038**</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BE3D9"/>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−0.027*</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DCEAFB"/>
                    </a:solidFill>
                  </a:tcPr>
                </a:tc>
              </a:tr>
            </a:tbl>
          </a:graphicData>
        </a:graphic>
      </p:graphicFrame>
      <p:sp>
        <p:nvSpPr>
          <p:cNvPr id="4" name="Caption"/>
          <p:cNvSpPr txBox="1"/>
          <p:nvPr/>
        </p:nvSpPr>
        <p:spPr>
          <a:xfrm>
            <a:off x="548640" y="5577840"/>
            <a:ext cx="7498080" cy="320040"/>
          </a:xfrm>
          <a:prstGeom prst="rect">
            <a:avLst/>
          </a:prstGeom>
          <a:noFill/>
          <a:ln/>
        </p:spPr>
        <p:txBody>
          <a:bodyPr wrap="square" lIns="0" tIns="0" rIns="0" bIns="0" rtlCol="0" anchor="ctr"/>
          <a:lstStyle/>
          <a:p>
            <a:pPr indent="0" marL="0">
              <a:buNone/>
            </a:pPr>
            <a:r>
              <a:rPr lang="en-US" sz="1100" i="1" dirty="0">
                <a:solidFill>
                  <a:srgbClr val="6B7280"/>
                </a:solidFill>
              </a:rPr>
              <a:t>Paper Table 5 · stock &amp; day FE · double-clustered SEs · orange = worse market quality, blue = better</a:t>
            </a:r>
            <a:endParaRPr lang="en-US" sz="1100" dirty="0"/>
          </a:p>
        </p:txBody>
      </p:sp>
      <p:sp>
        <p:nvSpPr>
          <p:cNvPr id="5" name="Reading card"/>
          <p:cNvSpPr/>
          <p:nvPr/>
        </p:nvSpPr>
        <p:spPr>
          <a:xfrm>
            <a:off x="8366760" y="1463040"/>
            <a:ext cx="3273552" cy="3950208"/>
          </a:xfrm>
          <a:prstGeom prst="roundRect">
            <a:avLst>
              <a:gd name="adj" fmla="val 3352"/>
            </a:avLst>
          </a:prstGeom>
          <a:solidFill>
            <a:schemeClr val="bg2"/>
          </a:solidFill>
          <a:ln w="12700">
            <a:solidFill>
              <a:schemeClr val="bg2"/>
            </a:solidFill>
            <a:prstDash val="solid"/>
          </a:ln>
        </p:spPr>
      </p:sp>
      <p:sp>
        <p:nvSpPr>
          <p:cNvPr id="6" name="Text 3"/>
          <p:cNvSpPr txBox="1"/>
          <p:nvPr/>
        </p:nvSpPr>
        <p:spPr>
          <a:xfrm>
            <a:off x="8595360" y="1645920"/>
            <a:ext cx="2834640" cy="3657600"/>
          </a:xfrm>
          <a:prstGeom prst="rect">
            <a:avLst/>
          </a:prstGeom>
          <a:noFill/>
          <a:ln/>
        </p:spPr>
        <p:txBody>
          <a:bodyPr wrap="square" lIns="0" tIns="0" rIns="0" bIns="0" rtlCol="0" anchor="t"/>
          <a:lstStyle/>
          <a:p>
            <a:pPr indent="0" marL="0">
              <a:buNone/>
            </a:pPr>
            <a:r>
              <a:rPr lang="en-US" sz="1800" b="1" dirty="0">
                <a:solidFill>
                  <a:srgbClr val="14213D"/>
                </a:solidFill>
              </a:rPr>
              <a:t>Reading</a:t>
            </a:r>
            <a:endParaRPr lang="en-US" sz="1500" dirty="0"/>
          </a:p>
          <a:p>
            <a:pPr indent="0" marL="0">
              <a:buNone/>
            </a:pPr>
            <a:r>
              <a:rPr lang="en-US" sz="1500" dirty="0">
                <a:solidFill>
                  <a:schemeClr val="tx1"/>
                </a:solidFill>
              </a:rPr>
              <a:t>Days with heavy AP arbitrage coincide with more volatile, less liquid, less efficient stocks — the arbitrage channel.</a:t>
            </a:r>
            <a:endParaRPr lang="en-US" sz="1500" dirty="0"/>
          </a:p>
          <a:p>
            <a:pPr indent="0" marL="0">
              <a:buNone/>
            </a:pPr>
            <a:r>
              <a:rPr lang="en-US" sz="800" dirty="0">
                <a:solidFill>
                  <a:schemeClr val="tx1"/>
                </a:solidFill>
              </a:rPr>
              <a:t> </a:t>
            </a:r>
            <a:endParaRPr lang="en-US" sz="1500" dirty="0"/>
          </a:p>
          <a:p>
            <a:pPr indent="0" marL="0">
              <a:buNone/>
            </a:pPr>
            <a:r>
              <a:rPr lang="en-US" sz="1500" dirty="0">
                <a:solidFill>
                  <a:schemeClr val="tx1"/>
                </a:solidFill>
              </a:rPr>
              <a:t>Heavy HFT trading in the ETF coincides with tighter stock spreads — the information-linkage channel.</a:t>
            </a:r>
            <a:endParaRPr lang="en-US" sz="15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ETF is more liquid than its basket</a:t>
            </a:r>
            <a:endParaRPr lang="en-US" sz="3200" dirty="0"/>
          </a:p>
        </p:txBody>
      </p:sp>
      <p:graphicFrame>
        <p:nvGraphicFramePr>
          <p:cNvPr id="3" name="Spread chart" descr=""/>
          <p:cNvGraphicFramePr/>
          <p:nvPr/>
        </p:nvGraphicFramePr>
        <p:xfrm>
          <a:off x="548640" y="137160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4" name="Fact card 1"/>
          <p:cNvSpPr/>
          <p:nvPr/>
        </p:nvSpPr>
        <p:spPr>
          <a:xfrm>
            <a:off x="6903720" y="1463040"/>
            <a:ext cx="4736592" cy="1234440"/>
          </a:xfrm>
          <a:prstGeom prst="roundRect">
            <a:avLst>
              <a:gd name="adj" fmla="val 8889"/>
            </a:avLst>
          </a:prstGeom>
          <a:solidFill>
            <a:schemeClr val="bg2"/>
          </a:solidFill>
          <a:ln w="12700">
            <a:solidFill>
              <a:schemeClr val="bg2"/>
            </a:solidFill>
            <a:prstDash val="solid"/>
          </a:ln>
        </p:spPr>
      </p:sp>
      <p:sp>
        <p:nvSpPr>
          <p:cNvPr id="5" name="Text 2"/>
          <p:cNvSpPr txBox="1"/>
          <p:nvPr/>
        </p:nvSpPr>
        <p:spPr>
          <a:xfrm>
            <a:off x="7178040" y="1572768"/>
            <a:ext cx="4206240" cy="54864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2.17 bps</a:t>
            </a:r>
            <a:endParaRPr lang="en-US" sz="2600" dirty="0"/>
          </a:p>
        </p:txBody>
      </p:sp>
      <p:sp>
        <p:nvSpPr>
          <p:cNvPr id="6" name="Text 3"/>
          <p:cNvSpPr txBox="1"/>
          <p:nvPr/>
        </p:nvSpPr>
        <p:spPr>
          <a:xfrm>
            <a:off x="7178040" y="2121408"/>
            <a:ext cx="4297680" cy="457200"/>
          </a:xfrm>
          <a:prstGeom prst="rect">
            <a:avLst/>
          </a:prstGeom>
          <a:noFill/>
          <a:ln/>
        </p:spPr>
        <p:txBody>
          <a:bodyPr wrap="square" lIns="0" tIns="0" rIns="0" bIns="0" rtlCol="0" anchor="ctr"/>
          <a:lstStyle/>
          <a:p>
            <a:pPr indent="0" marL="0">
              <a:buNone/>
            </a:pPr>
            <a:r>
              <a:rPr lang="en-US" sz="1400" dirty="0">
                <a:solidFill>
                  <a:schemeClr val="tx1"/>
                </a:solidFill>
              </a:rPr>
              <a:t>average spread gap: basket minus ETF</a:t>
            </a:r>
            <a:endParaRPr lang="en-US" sz="1400" dirty="0"/>
          </a:p>
        </p:txBody>
      </p:sp>
      <p:sp>
        <p:nvSpPr>
          <p:cNvPr id="7" name="Fact card 2"/>
          <p:cNvSpPr/>
          <p:nvPr/>
        </p:nvSpPr>
        <p:spPr>
          <a:xfrm>
            <a:off x="6903720" y="2926080"/>
            <a:ext cx="4736592" cy="1234440"/>
          </a:xfrm>
          <a:prstGeom prst="roundRect">
            <a:avLst>
              <a:gd name="adj" fmla="val 8889"/>
            </a:avLst>
          </a:prstGeom>
          <a:solidFill>
            <a:schemeClr val="bg2"/>
          </a:solidFill>
          <a:ln w="12700">
            <a:solidFill>
              <a:schemeClr val="bg2"/>
            </a:solidFill>
            <a:prstDash val="solid"/>
          </a:ln>
        </p:spPr>
      </p:sp>
      <p:sp>
        <p:nvSpPr>
          <p:cNvPr id="8" name="Text 5"/>
          <p:cNvSpPr txBox="1"/>
          <p:nvPr/>
        </p:nvSpPr>
        <p:spPr>
          <a:xfrm>
            <a:off x="7178040" y="3035808"/>
            <a:ext cx="4206240" cy="54864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0.306***</a:t>
            </a:r>
            <a:endParaRPr lang="en-US" sz="2600" dirty="0"/>
          </a:p>
        </p:txBody>
      </p:sp>
      <p:sp>
        <p:nvSpPr>
          <p:cNvPr id="9" name="Text 6"/>
          <p:cNvSpPr txBox="1"/>
          <p:nvPr/>
        </p:nvSpPr>
        <p:spPr>
          <a:xfrm>
            <a:off x="7178040" y="3584448"/>
            <a:ext cx="4297680" cy="457200"/>
          </a:xfrm>
          <a:prstGeom prst="rect">
            <a:avLst/>
          </a:prstGeom>
          <a:noFill/>
          <a:ln/>
        </p:spPr>
        <p:txBody>
          <a:bodyPr wrap="square" lIns="0" tIns="0" rIns="0" bIns="0" rtlCol="0" anchor="ctr"/>
          <a:lstStyle/>
          <a:p>
            <a:pPr indent="0" marL="0">
              <a:buNone/>
            </a:pPr>
            <a:r>
              <a:rPr lang="en-US" sz="1400" dirty="0">
                <a:solidFill>
                  <a:schemeClr val="tx1"/>
                </a:solidFill>
              </a:rPr>
              <a:t>more HFT activity → larger gap (ETF relatively more liquid)</a:t>
            </a:r>
            <a:endParaRPr lang="en-US" sz="1400" dirty="0"/>
          </a:p>
        </p:txBody>
      </p:sp>
      <p:sp>
        <p:nvSpPr>
          <p:cNvPr id="10" name="Fact card 3"/>
          <p:cNvSpPr/>
          <p:nvPr/>
        </p:nvSpPr>
        <p:spPr>
          <a:xfrm>
            <a:off x="6903720" y="4389120"/>
            <a:ext cx="4736592" cy="1234440"/>
          </a:xfrm>
          <a:prstGeom prst="roundRect">
            <a:avLst>
              <a:gd name="adj" fmla="val 8889"/>
            </a:avLst>
          </a:prstGeom>
          <a:solidFill>
            <a:schemeClr val="bg2"/>
          </a:solidFill>
          <a:ln w="12700">
            <a:solidFill>
              <a:schemeClr val="bg2"/>
            </a:solidFill>
            <a:prstDash val="solid"/>
          </a:ln>
        </p:spPr>
      </p:sp>
      <p:sp>
        <p:nvSpPr>
          <p:cNvPr id="11" name="Text 8"/>
          <p:cNvSpPr txBox="1"/>
          <p:nvPr/>
        </p:nvSpPr>
        <p:spPr>
          <a:xfrm>
            <a:off x="7178040" y="4498848"/>
            <a:ext cx="4206240" cy="54864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0.511***</a:t>
            </a:r>
            <a:endParaRPr lang="en-US" sz="2600" dirty="0"/>
          </a:p>
        </p:txBody>
      </p:sp>
      <p:sp>
        <p:nvSpPr>
          <p:cNvPr id="12" name="Text 9"/>
          <p:cNvSpPr txBox="1"/>
          <p:nvPr/>
        </p:nvSpPr>
        <p:spPr>
          <a:xfrm>
            <a:off x="7178040" y="5047488"/>
            <a:ext cx="4297680" cy="457200"/>
          </a:xfrm>
          <a:prstGeom prst="rect">
            <a:avLst/>
          </a:prstGeom>
          <a:noFill/>
          <a:ln/>
        </p:spPr>
        <p:txBody>
          <a:bodyPr wrap="square" lIns="0" tIns="0" rIns="0" bIns="0" rtlCol="0" anchor="ctr"/>
          <a:lstStyle/>
          <a:p>
            <a:pPr indent="0" marL="0">
              <a:buNone/>
            </a:pPr>
            <a:r>
              <a:rPr lang="en-US" sz="1400" dirty="0">
                <a:solidFill>
                  <a:schemeClr val="tx1"/>
                </a:solidFill>
              </a:rPr>
              <a:t>ETF spread → constituent spreads: liquidity spills over</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Japan: a quasi-natural experiment</a:t>
            </a:r>
            <a:endParaRPr lang="en-US" sz="3200" dirty="0"/>
          </a:p>
        </p:txBody>
      </p:sp>
      <p:sp>
        <p:nvSpPr>
          <p:cNvPr id="3" name="Text 1"/>
          <p:cNvSpPr txBox="1"/>
          <p:nvPr/>
        </p:nvSpPr>
        <p:spPr>
          <a:xfrm>
            <a:off x="548640" y="1417320"/>
            <a:ext cx="4846320" cy="448056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The shock: </a:t>
            </a:r>
            <a:pPr indent="0" marL="0">
              <a:buNone/>
            </a:pPr>
            <a:r>
              <a:rPr lang="en-US" sz="1600" dirty="0">
                <a:solidFill>
                  <a:schemeClr val="tx1"/>
                </a:solidFill>
              </a:rPr>
              <a:t>the BoJ bought ETFs on 349 of 1,481 days, ≈ ¥70bn per day vs. ≈ ¥25bn normal ETF turnover; APs must create units and buy the stocks</a:t>
            </a:r>
            <a:endParaRPr lang="en-US" sz="1600" dirty="0"/>
          </a:p>
          <a:p>
            <a:pPr marL="342900" indent="-342900">
              <a:spcAft>
                <a:spcPts val="800"/>
              </a:spcAft>
              <a:buSzPct val="100000"/>
              <a:buChar char="•"/>
            </a:pPr>
            <a:r>
              <a:rPr lang="en-US" sz="1600" b="1" dirty="0">
                <a:solidFill>
                  <a:schemeClr val="tx1"/>
                </a:solidFill>
              </a:rPr>
              <a:t>The twist: </a:t>
            </a:r>
            <a:pPr indent="0" marL="0">
              <a:buNone/>
            </a:pPr>
            <a:r>
              <a:rPr lang="en-US" sz="1600" dirty="0">
                <a:solidFill>
                  <a:schemeClr val="tx1"/>
                </a:solidFill>
              </a:rPr>
              <a:t>the Nikkei 225 is price-weighted, so the purchase per stock relative to its size ∝ PAF / shares outstanding</a:t>
            </a:r>
            <a:endParaRPr lang="en-US" sz="1600" dirty="0"/>
          </a:p>
          <a:p>
            <a:pPr marL="342900" indent="-342900">
              <a:spcAft>
                <a:spcPts val="800"/>
              </a:spcAft>
              <a:buSzPct val="100000"/>
              <a:buChar char="•"/>
            </a:pPr>
            <a:r>
              <a:rPr lang="en-US" sz="1600" b="1" dirty="0">
                <a:solidFill>
                  <a:schemeClr val="tx1"/>
                </a:solidFill>
              </a:rPr>
              <a:t>Result: </a:t>
            </a:r>
            <a:pPr indent="0" marL="0">
              <a:buNone/>
            </a:pPr>
            <a:r>
              <a:rPr lang="en-US" sz="1600" dirty="0">
                <a:solidFill>
                  <a:schemeClr val="tx1"/>
                </a:solidFill>
              </a:rPr>
              <a:t>high-price, low-share-count stocks get demand unrelated to fundamentals; TOPIX demand is ≈ equal for all and is absorbed by day fixed effects</a:t>
            </a:r>
            <a:endParaRPr lang="en-US" sz="1600" dirty="0"/>
          </a:p>
        </p:txBody>
      </p:sp>
      <p:pic>
        <p:nvPicPr>
          <p:cNvPr id="4" name="Intensity figure" descr="/home/user/Finances/ETF_effects_The_role_of_primary_versus_secondary_market_activities/figures/jp_intensity.png">    </p:cNvPr>
          <p:cNvPicPr>
            <a:picLocks noChangeAspect="1"/>
          </p:cNvPicPr>
          <p:nvPr/>
        </p:nvPicPr>
        <p:blipFill>
          <a:blip r:embed="rId1"/>
          <a:stretch>
            <a:fillRect/>
          </a:stretch>
        </p:blipFill>
        <p:spPr>
          <a:xfrm>
            <a:off x="5623560" y="1600200"/>
            <a:ext cx="6016752" cy="2632000"/>
          </a:xfrm>
          <a:prstGeom prst="rect">
            <a:avLst/>
          </a:prstGeom>
        </p:spPr>
      </p:pic>
      <p:sp>
        <p:nvSpPr>
          <p:cNvPr id="5" name="Caption"/>
          <p:cNvSpPr txBox="1"/>
          <p:nvPr/>
        </p:nvSpPr>
        <p:spPr>
          <a:xfrm>
            <a:off x="5623560" y="4343400"/>
            <a:ext cx="6016752" cy="548640"/>
          </a:xfrm>
          <a:prstGeom prst="rect">
            <a:avLst/>
          </a:prstGeom>
          <a:noFill/>
          <a:ln/>
        </p:spPr>
        <p:txBody>
          <a:bodyPr wrap="square" lIns="0" tIns="0" rIns="0" bIns="0" rtlCol="0" anchor="ctr"/>
          <a:lstStyle/>
          <a:p>
            <a:pPr indent="0" marL="0">
              <a:buNone/>
            </a:pPr>
            <a:r>
              <a:rPr lang="en-US" sz="1100" i="1" dirty="0">
                <a:solidFill>
                  <a:srgbClr val="6B7280"/>
                </a:solidFill>
              </a:rPr>
              <a:t>Our simulation (notebook §4): BoJ-driven demand is tightly clustered for TOPIX-only stocks but spread over two orders of magnitude for Nikkei 225 stocks.</a:t>
            </a:r>
            <a:endParaRPr lang="en-US" sz="11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BoJ-driven creations cause the damage</a:t>
            </a:r>
            <a:endParaRPr lang="en-US" sz="3200" dirty="0"/>
          </a:p>
        </p:txBody>
      </p:sp>
      <p:graphicFrame>
        <p:nvGraphicFramePr>
          <p:cNvPr id="3" name="Japan effects chart" descr=""/>
          <p:cNvGraphicFramePr/>
          <p:nvPr/>
        </p:nvGraphicFramePr>
        <p:xfrm>
          <a:off x="548640" y="1371600"/>
          <a:ext cx="6492240" cy="4480560"/>
        </p:xfrm>
        <a:graphic xmlns:a="http://schemas.openxmlformats.org/drawingml/2006/main">
          <a:graphicData uri="http://schemas.openxmlformats.org/drawingml/2006/chart">
            <c:chart xmlns:c="http://schemas.openxmlformats.org/drawingml/2006/chart" r:id="rId1"/>
          </a:graphicData>
        </a:graphic>
      </p:graphicFrame>
      <p:sp>
        <p:nvSpPr>
          <p:cNvPr id="4" name="Japan reading card"/>
          <p:cNvSpPr/>
          <p:nvPr/>
        </p:nvSpPr>
        <p:spPr>
          <a:xfrm>
            <a:off x="7360920" y="1463040"/>
            <a:ext cx="4279392" cy="4343400"/>
          </a:xfrm>
          <a:prstGeom prst="roundRect">
            <a:avLst>
              <a:gd name="adj" fmla="val 2564"/>
            </a:avLst>
          </a:prstGeom>
          <a:solidFill>
            <a:schemeClr val="bg2"/>
          </a:solidFill>
          <a:ln w="12700">
            <a:solidFill>
              <a:schemeClr val="bg2"/>
            </a:solidFill>
            <a:prstDash val="solid"/>
          </a:ln>
        </p:spPr>
      </p:sp>
      <p:sp>
        <p:nvSpPr>
          <p:cNvPr id="5" name="Text 2"/>
          <p:cNvSpPr txBox="1"/>
          <p:nvPr/>
        </p:nvSpPr>
        <p:spPr>
          <a:xfrm>
            <a:off x="7589520" y="1645920"/>
            <a:ext cx="3840480" cy="4023360"/>
          </a:xfrm>
          <a:prstGeom prst="rect">
            <a:avLst/>
          </a:prstGeom>
          <a:noFill/>
          <a:ln/>
        </p:spPr>
        <p:txBody>
          <a:bodyPr wrap="square" lIns="0" tIns="0" rIns="0" bIns="0" rtlCol="0" anchor="t"/>
          <a:lstStyle/>
          <a:p>
            <a:pPr indent="0" marL="0">
              <a:buNone/>
            </a:pPr>
            <a:r>
              <a:rPr lang="en-US" sz="1800" b="1" dirty="0">
                <a:solidFill>
                  <a:srgbClr val="14213D"/>
                </a:solidFill>
              </a:rPr>
              <a:t>Paper Table 8</a:t>
            </a:r>
            <a:endParaRPr lang="en-US" sz="1500" dirty="0"/>
          </a:p>
          <a:p>
            <a:pPr indent="0" marL="0">
              <a:buNone/>
            </a:pPr>
            <a:r>
              <a:rPr lang="en-US" sz="1500" dirty="0">
                <a:solidFill>
                  <a:schemeClr val="tx1"/>
                </a:solidFill>
              </a:rPr>
              <a:t>Return 0.239*** · Volatility 1.901***</a:t>
            </a:r>
            <a:endParaRPr lang="en-US" sz="1500" dirty="0"/>
          </a:p>
          <a:p>
            <a:pPr indent="0" marL="0">
              <a:buNone/>
            </a:pPr>
            <a:r>
              <a:rPr lang="en-US" sz="1500" dirty="0">
                <a:solidFill>
                  <a:schemeClr val="tx1"/>
                </a:solidFill>
              </a:rPr>
              <a:t>Spread 0.011** · Depth −0.943***</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1"/>
                </a:solidFill>
              </a:rPr>
              <a:t>Placebo test: </a:t>
            </a:r>
            <a:pPr indent="0" marL="0">
              <a:buNone/>
            </a:pPr>
            <a:r>
              <a:rPr lang="en-US" sz="1500" dirty="0">
                <a:solidFill>
                  <a:schemeClr val="tx1"/>
                </a:solidFill>
              </a:rPr>
              <a:t>the same regression on non-purchase days gives much smaller slopes (Z = 2.2, 1.7, 4.0, −3.2).</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1"/>
                </a:solidFill>
              </a:rPr>
              <a:t>Conservative size: </a:t>
            </a:r>
            <a:pPr indent="0" marL="0">
              <a:buNone/>
            </a:pPr>
            <a:r>
              <a:rPr lang="en-US" sz="1500" dirty="0">
                <a:solidFill>
                  <a:schemeClr val="tx1"/>
                </a:solidFill>
              </a:rPr>
              <a:t>return +4%, volatility +1%, spread +3%, depth −5%.</a:t>
            </a:r>
            <a:endParaRPr lang="en-US" sz="15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Long run: the benefits seem to dominate</a:t>
            </a:r>
            <a:endParaRPr lang="en-US" sz="3200" dirty="0"/>
          </a:p>
        </p:txBody>
      </p:sp>
      <p:sp>
        <p:nvSpPr>
          <p:cNvPr id="3" name="Trend card 1"/>
          <p:cNvSpPr/>
          <p:nvPr/>
        </p:nvSpPr>
        <p:spPr>
          <a:xfrm>
            <a:off x="548640" y="1417320"/>
            <a:ext cx="5394960" cy="1371600"/>
          </a:xfrm>
          <a:prstGeom prst="roundRect">
            <a:avLst>
              <a:gd name="adj" fmla="val 8000"/>
            </a:avLst>
          </a:prstGeom>
          <a:solidFill>
            <a:schemeClr val="bg2"/>
          </a:solidFill>
          <a:ln w="12700">
            <a:solidFill>
              <a:schemeClr val="bg2"/>
            </a:solidFill>
            <a:prstDash val="solid"/>
          </a:ln>
        </p:spPr>
      </p:sp>
      <p:sp>
        <p:nvSpPr>
          <p:cNvPr id="4" name="Text 2"/>
          <p:cNvSpPr txBox="1"/>
          <p:nvPr/>
        </p:nvSpPr>
        <p:spPr>
          <a:xfrm>
            <a:off x="868680" y="1581912"/>
            <a:ext cx="4754880" cy="548640"/>
          </a:xfrm>
          <a:prstGeom prst="rect">
            <a:avLst/>
          </a:prstGeom>
          <a:noFill/>
          <a:ln/>
        </p:spPr>
        <p:txBody>
          <a:bodyPr wrap="square" lIns="0" tIns="0" rIns="0" bIns="0" rtlCol="0" anchor="ctr"/>
          <a:lstStyle/>
          <a:p>
            <a:pPr indent="0" marL="0">
              <a:buNone/>
            </a:pPr>
            <a:r>
              <a:rPr lang="en-US" sz="2400" b="1" dirty="0">
                <a:solidFill>
                  <a:schemeClr val="accent2"/>
                </a:solidFill>
              </a:rPr>
              <a:t>↑ ETF ownership</a:t>
            </a:r>
            <a:endParaRPr lang="en-US" sz="2400" dirty="0"/>
          </a:p>
        </p:txBody>
      </p:sp>
      <p:sp>
        <p:nvSpPr>
          <p:cNvPr id="5" name="Text 3"/>
          <p:cNvSpPr txBox="1"/>
          <p:nvPr/>
        </p:nvSpPr>
        <p:spPr>
          <a:xfrm>
            <a:off x="868680" y="2167128"/>
            <a:ext cx="4754880" cy="411480"/>
          </a:xfrm>
          <a:prstGeom prst="rect">
            <a:avLst/>
          </a:prstGeom>
          <a:noFill/>
          <a:ln/>
        </p:spPr>
        <p:txBody>
          <a:bodyPr wrap="square" lIns="0" tIns="0" rIns="0" bIns="0" rtlCol="0" anchor="ctr"/>
          <a:lstStyle/>
          <a:p>
            <a:pPr indent="0" marL="0">
              <a:buNone/>
            </a:pPr>
            <a:r>
              <a:rPr lang="en-US" sz="1500" dirty="0">
                <a:solidFill>
                  <a:schemeClr val="tx1"/>
                </a:solidFill>
              </a:rPr>
              <a:t>slope +0.19 per year, R² = 0.96</a:t>
            </a:r>
            <a:endParaRPr lang="en-US" sz="1500" dirty="0"/>
          </a:p>
        </p:txBody>
      </p:sp>
      <p:sp>
        <p:nvSpPr>
          <p:cNvPr id="6" name="Trend card 2"/>
          <p:cNvSpPr/>
          <p:nvPr/>
        </p:nvSpPr>
        <p:spPr>
          <a:xfrm>
            <a:off x="6217920" y="1417320"/>
            <a:ext cx="5394960" cy="1371600"/>
          </a:xfrm>
          <a:prstGeom prst="roundRect">
            <a:avLst>
              <a:gd name="adj" fmla="val 8000"/>
            </a:avLst>
          </a:prstGeom>
          <a:solidFill>
            <a:schemeClr val="bg2"/>
          </a:solidFill>
          <a:ln w="12700">
            <a:solidFill>
              <a:schemeClr val="bg2"/>
            </a:solidFill>
            <a:prstDash val="solid"/>
          </a:ln>
        </p:spPr>
      </p:sp>
      <p:sp>
        <p:nvSpPr>
          <p:cNvPr id="7" name="Text 5"/>
          <p:cNvSpPr txBox="1"/>
          <p:nvPr/>
        </p:nvSpPr>
        <p:spPr>
          <a:xfrm>
            <a:off x="6537960" y="1581912"/>
            <a:ext cx="4754880" cy="548640"/>
          </a:xfrm>
          <a:prstGeom prst="rect">
            <a:avLst/>
          </a:prstGeom>
          <a:noFill/>
          <a:ln/>
        </p:spPr>
        <p:txBody>
          <a:bodyPr wrap="square" lIns="0" tIns="0" rIns="0" bIns="0" rtlCol="0" anchor="ctr"/>
          <a:lstStyle/>
          <a:p>
            <a:pPr indent="0" marL="0">
              <a:buNone/>
            </a:pPr>
            <a:r>
              <a:rPr lang="en-US" sz="2400" b="1" dirty="0">
                <a:solidFill>
                  <a:schemeClr val="accent1"/>
                </a:solidFill>
              </a:rPr>
              <a:t>↓ Volatility</a:t>
            </a:r>
            <a:endParaRPr lang="en-US" sz="2400" dirty="0"/>
          </a:p>
        </p:txBody>
      </p:sp>
      <p:sp>
        <p:nvSpPr>
          <p:cNvPr id="8" name="Text 6"/>
          <p:cNvSpPr txBox="1"/>
          <p:nvPr/>
        </p:nvSpPr>
        <p:spPr>
          <a:xfrm>
            <a:off x="6537960" y="2167128"/>
            <a:ext cx="4754880" cy="411480"/>
          </a:xfrm>
          <a:prstGeom prst="rect">
            <a:avLst/>
          </a:prstGeom>
          <a:noFill/>
          <a:ln/>
        </p:spPr>
        <p:txBody>
          <a:bodyPr wrap="square" lIns="0" tIns="0" rIns="0" bIns="0" rtlCol="0" anchor="ctr"/>
          <a:lstStyle/>
          <a:p>
            <a:pPr indent="0" marL="0">
              <a:buNone/>
            </a:pPr>
            <a:r>
              <a:rPr lang="en-US" sz="1500" dirty="0">
                <a:solidFill>
                  <a:schemeClr val="tx1"/>
                </a:solidFill>
              </a:rPr>
              <a:t>−1.48 points per year</a:t>
            </a:r>
            <a:endParaRPr lang="en-US" sz="1500" dirty="0"/>
          </a:p>
        </p:txBody>
      </p:sp>
      <p:sp>
        <p:nvSpPr>
          <p:cNvPr id="9" name="Trend card 3"/>
          <p:cNvSpPr/>
          <p:nvPr/>
        </p:nvSpPr>
        <p:spPr>
          <a:xfrm>
            <a:off x="548640" y="3017520"/>
            <a:ext cx="5394960" cy="1371600"/>
          </a:xfrm>
          <a:prstGeom prst="roundRect">
            <a:avLst>
              <a:gd name="adj" fmla="val 8000"/>
            </a:avLst>
          </a:prstGeom>
          <a:solidFill>
            <a:schemeClr val="bg2"/>
          </a:solidFill>
          <a:ln w="12700">
            <a:solidFill>
              <a:schemeClr val="bg2"/>
            </a:solidFill>
            <a:prstDash val="solid"/>
          </a:ln>
        </p:spPr>
      </p:sp>
      <p:sp>
        <p:nvSpPr>
          <p:cNvPr id="10" name="Text 8"/>
          <p:cNvSpPr txBox="1"/>
          <p:nvPr/>
        </p:nvSpPr>
        <p:spPr>
          <a:xfrm>
            <a:off x="868680" y="3182112"/>
            <a:ext cx="4754880" cy="548640"/>
          </a:xfrm>
          <a:prstGeom prst="rect">
            <a:avLst/>
          </a:prstGeom>
          <a:noFill/>
          <a:ln/>
        </p:spPr>
        <p:txBody>
          <a:bodyPr wrap="square" lIns="0" tIns="0" rIns="0" bIns="0" rtlCol="0" anchor="ctr"/>
          <a:lstStyle/>
          <a:p>
            <a:pPr indent="0" marL="0">
              <a:buNone/>
            </a:pPr>
            <a:r>
              <a:rPr lang="en-US" sz="2400" b="1" dirty="0">
                <a:solidFill>
                  <a:schemeClr val="accent1"/>
                </a:solidFill>
              </a:rPr>
              <a:t>↓ Quoted spread</a:t>
            </a:r>
            <a:endParaRPr lang="en-US" sz="2400" dirty="0"/>
          </a:p>
        </p:txBody>
      </p:sp>
      <p:sp>
        <p:nvSpPr>
          <p:cNvPr id="11" name="Text 9"/>
          <p:cNvSpPr txBox="1"/>
          <p:nvPr/>
        </p:nvSpPr>
        <p:spPr>
          <a:xfrm>
            <a:off x="868680" y="3767328"/>
            <a:ext cx="4754880" cy="411480"/>
          </a:xfrm>
          <a:prstGeom prst="rect">
            <a:avLst/>
          </a:prstGeom>
          <a:noFill/>
          <a:ln/>
        </p:spPr>
        <p:txBody>
          <a:bodyPr wrap="square" lIns="0" tIns="0" rIns="0" bIns="0" rtlCol="0" anchor="ctr"/>
          <a:lstStyle/>
          <a:p>
            <a:pPr indent="0" marL="0">
              <a:buNone/>
            </a:pPr>
            <a:r>
              <a:rPr lang="en-US" sz="1500" dirty="0">
                <a:solidFill>
                  <a:schemeClr val="tx1"/>
                </a:solidFill>
              </a:rPr>
              <a:t>−0.03 pp (3 bps) per year</a:t>
            </a:r>
            <a:endParaRPr lang="en-US" sz="1500" dirty="0"/>
          </a:p>
        </p:txBody>
      </p:sp>
      <p:sp>
        <p:nvSpPr>
          <p:cNvPr id="12" name="Trend card 4"/>
          <p:cNvSpPr/>
          <p:nvPr/>
        </p:nvSpPr>
        <p:spPr>
          <a:xfrm>
            <a:off x="6217920" y="3017520"/>
            <a:ext cx="5394960" cy="1371600"/>
          </a:xfrm>
          <a:prstGeom prst="roundRect">
            <a:avLst>
              <a:gd name="adj" fmla="val 8000"/>
            </a:avLst>
          </a:prstGeom>
          <a:solidFill>
            <a:schemeClr val="bg2"/>
          </a:solidFill>
          <a:ln w="12700">
            <a:solidFill>
              <a:schemeClr val="bg2"/>
            </a:solidFill>
            <a:prstDash val="solid"/>
          </a:ln>
        </p:spPr>
      </p:sp>
      <p:sp>
        <p:nvSpPr>
          <p:cNvPr id="13" name="Text 11"/>
          <p:cNvSpPr txBox="1"/>
          <p:nvPr/>
        </p:nvSpPr>
        <p:spPr>
          <a:xfrm>
            <a:off x="6537960" y="3182112"/>
            <a:ext cx="4754880" cy="548640"/>
          </a:xfrm>
          <a:prstGeom prst="rect">
            <a:avLst/>
          </a:prstGeom>
          <a:noFill/>
          <a:ln/>
        </p:spPr>
        <p:txBody>
          <a:bodyPr wrap="square" lIns="0" tIns="0" rIns="0" bIns="0" rtlCol="0" anchor="ctr"/>
          <a:lstStyle/>
          <a:p>
            <a:pPr indent="0" marL="0">
              <a:buNone/>
            </a:pPr>
            <a:r>
              <a:rPr lang="en-US" sz="2400" b="1" dirty="0">
                <a:solidFill>
                  <a:schemeClr val="accent1"/>
                </a:solidFill>
              </a:rPr>
              <a:t>↑ Resiliency, ↓ autocorrelation</a:t>
            </a:r>
            <a:endParaRPr lang="en-US" sz="2400" dirty="0"/>
          </a:p>
        </p:txBody>
      </p:sp>
      <p:sp>
        <p:nvSpPr>
          <p:cNvPr id="14" name="Text 12"/>
          <p:cNvSpPr txBox="1"/>
          <p:nvPr/>
        </p:nvSpPr>
        <p:spPr>
          <a:xfrm>
            <a:off x="6537960" y="3767328"/>
            <a:ext cx="4754880" cy="411480"/>
          </a:xfrm>
          <a:prstGeom prst="rect">
            <a:avLst/>
          </a:prstGeom>
          <a:noFill/>
          <a:ln/>
        </p:spPr>
        <p:txBody>
          <a:bodyPr wrap="square" lIns="0" tIns="0" rIns="0" bIns="0" rtlCol="0" anchor="ctr"/>
          <a:lstStyle/>
          <a:p>
            <a:pPr indent="0" marL="0">
              <a:buNone/>
            </a:pPr>
            <a:r>
              <a:rPr lang="en-US" sz="1500" dirty="0">
                <a:solidFill>
                  <a:schemeClr val="tx1"/>
                </a:solidFill>
              </a:rPr>
              <a:t>both improve</a:t>
            </a:r>
            <a:endParaRPr lang="en-US" sz="1500" dirty="0"/>
          </a:p>
        </p:txBody>
      </p:sp>
      <p:sp>
        <p:nvSpPr>
          <p:cNvPr id="15" name="Text 13"/>
          <p:cNvSpPr txBox="1"/>
          <p:nvPr/>
        </p:nvSpPr>
        <p:spPr>
          <a:xfrm>
            <a:off x="548640" y="4800600"/>
            <a:ext cx="11094415" cy="822960"/>
          </a:xfrm>
          <a:prstGeom prst="rect">
            <a:avLst/>
          </a:prstGeom>
          <a:noFill/>
          <a:ln/>
        </p:spPr>
        <p:txBody>
          <a:bodyPr wrap="square" lIns="0" tIns="0" rIns="0" bIns="0" rtlCol="0" anchor="ctr"/>
          <a:lstStyle/>
          <a:p>
            <a:pPr indent="0" marL="0">
              <a:buNone/>
            </a:pPr>
            <a:r>
              <a:rPr lang="en-US" sz="1600" b="1" dirty="0">
                <a:solidFill>
                  <a:schemeClr val="tx2"/>
                </a:solidFill>
              </a:rPr>
              <a:t>Paper Table 9, Japan 2010–2016: </a:t>
            </a:r>
            <a:pPr indent="0" marL="0">
              <a:buNone/>
            </a:pPr>
            <a:r>
              <a:rPr lang="en-US" sz="1600" dirty="0">
                <a:solidFill>
                  <a:schemeClr val="tx1"/>
                </a:solidFill>
              </a:rPr>
              <a:t>ownership surged while market quality improved, so arbitrage harm is local and transitory. Caveat: this is a time-trend correlation (see critique).</a:t>
            </a:r>
            <a:endParaRPr lang="en-US" sz="16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Our lab I: the HFT test has real power</a:t>
            </a:r>
            <a:endParaRPr lang="en-US" sz="3200" dirty="0"/>
          </a:p>
        </p:txBody>
      </p:sp>
      <p:pic>
        <p:nvPicPr>
          <p:cNvPr id="3" name="Power figure" descr="/home/user/Finances/ETF_effects_The_role_of_primary_versus_secondary_market_activities/figures/sim_hft_power.png">    </p:cNvPr>
          <p:cNvPicPr>
            <a:picLocks noChangeAspect="1"/>
          </p:cNvPicPr>
          <p:nvPr/>
        </p:nvPicPr>
        <p:blipFill>
          <a:blip r:embed="rId1"/>
          <a:stretch>
            <a:fillRect/>
          </a:stretch>
        </p:blipFill>
        <p:spPr>
          <a:xfrm>
            <a:off x="548640" y="1371600"/>
            <a:ext cx="6035040" cy="3512829"/>
          </a:xfrm>
          <a:prstGeom prst="rect">
            <a:avLst/>
          </a:prstGeom>
        </p:spPr>
      </p:pic>
      <p:sp>
        <p:nvSpPr>
          <p:cNvPr id="4" name="Text 1"/>
          <p:cNvSpPr txBox="1"/>
          <p:nvPr/>
        </p:nvSpPr>
        <p:spPr>
          <a:xfrm>
            <a:off x="6903720" y="1371600"/>
            <a:ext cx="4736592" cy="411480"/>
          </a:xfrm>
          <a:prstGeom prst="rect">
            <a:avLst/>
          </a:prstGeom>
          <a:noFill/>
          <a:ln/>
        </p:spPr>
        <p:txBody>
          <a:bodyPr wrap="square" lIns="0" tIns="0" rIns="0" bIns="0" rtlCol="0" anchor="ctr"/>
          <a:lstStyle/>
          <a:p>
            <a:pPr indent="0" marL="0">
              <a:buNone/>
            </a:pPr>
            <a:r>
              <a:rPr lang="en-US" sz="1600" b="1" dirty="0">
                <a:solidFill>
                  <a:schemeClr val="tx2"/>
                </a:solidFill>
              </a:rPr>
              <a:t>Simulated Euronext-like market, calibrated to Table 2</a:t>
            </a:r>
            <a:endParaRPr lang="en-US" sz="1600" dirty="0"/>
          </a:p>
        </p:txBody>
      </p:sp>
      <p:graphicFrame>
        <p:nvGraphicFramePr>
          <p:cNvPr id="15" name="Calibration table"/>
          <p:cNvGraphicFramePr>
            <a:graphicFrameLocks noGrp="1"/>
          </p:cNvGraphicFramePr>
          <p:nvPr>
            <p:extLst>
              <p:ext uri="{D42A27DB-BD31-4B8C-83A1-F6EECF244321}">
                <p14:modId xmlns:p14="http://schemas.microsoft.com/office/powerpoint/2010/main" val="1579011935"/>
              </p:ext>
            </p:extLst>
          </p:nvPr>
        </p:nvGraphicFramePr>
        <p:xfrm>
          <a:off x="6903720" y="1874520"/>
          <a:ext cx="4736592" cy="914400"/>
        </p:xfrm>
        <a:graphic>
          <a:graphicData uri="http://schemas.openxmlformats.org/drawingml/2006/table">
            <a:tbl>
              <a:tblPr/>
              <a:tblGrid>
                <a:gridCol w="2176272"/>
                <a:gridCol w="1280160"/>
                <a:gridCol w="1280160"/>
              </a:tblGrid>
              <a:tr h="438912">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Moment</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Paper</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Sim</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14213D"/>
                    </a:solidFill>
                  </a:tcPr>
                </a:tc>
              </a:tr>
              <a:tr h="438912">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PM days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32%</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31%</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438912">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s.d. mispricing</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0.37%</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0.36%</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438912">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HFT share</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74%</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70%</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438912">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PM / secondary volume</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1F2A"/>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6903720" y="4251960"/>
            <a:ext cx="4736592" cy="1463040"/>
          </a:xfrm>
          <a:prstGeom prst="rect">
            <a:avLst/>
          </a:prstGeom>
          <a:noFill/>
          <a:ln/>
        </p:spPr>
        <p:txBody>
          <a:bodyPr wrap="square" lIns="0" tIns="0" rIns="0" bIns="0" rtlCol="0" anchor="t"/>
          <a:lstStyle/>
          <a:p>
            <a:pPr indent="0" marL="0">
              <a:buNone/>
            </a:pPr>
            <a:r>
              <a:rPr lang="en-US" sz="1500" dirty="0">
                <a:solidFill>
                  <a:schemeClr val="tx1"/>
                </a:solidFill>
              </a:rPr>
              <a:t>When HFTs truly ignore mispricing, the paper's regression rejects about as often as it should (7–10%); when they arbitrage, it rejects in 100% of samples. The paper's null result for HFTs is informative.</a:t>
            </a:r>
            <a:endParaRPr lang="en-US" sz="15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Our lab II: both channels are identifiable</a:t>
            </a:r>
            <a:endParaRPr lang="en-US" sz="3200" dirty="0"/>
          </a:p>
        </p:txBody>
      </p:sp>
      <p:pic>
        <p:nvPicPr>
          <p:cNvPr id="3" name="Table 5 t-stats figure" descr="/home/user/Finances/ETF_effects_The_role_of_primary_versus_secondary_market_activities/figures/sim_table5_tstats.png">    </p:cNvPr>
          <p:cNvPicPr>
            <a:picLocks noChangeAspect="1"/>
          </p:cNvPicPr>
          <p:nvPr/>
        </p:nvPicPr>
        <p:blipFill>
          <a:blip r:embed="rId1"/>
          <a:stretch>
            <a:fillRect/>
          </a:stretch>
        </p:blipFill>
        <p:spPr>
          <a:xfrm>
            <a:off x="548640" y="1325880"/>
            <a:ext cx="11094415" cy="3551349"/>
          </a:xfrm>
          <a:prstGeom prst="rect">
            <a:avLst/>
          </a:prstGeom>
        </p:spPr>
      </p:pic>
      <p:sp>
        <p:nvSpPr>
          <p:cNvPr id="4" name="Lab II card 1"/>
          <p:cNvSpPr/>
          <p:nvPr/>
        </p:nvSpPr>
        <p:spPr>
          <a:xfrm>
            <a:off x="548640" y="4983480"/>
            <a:ext cx="3502152" cy="1234440"/>
          </a:xfrm>
          <a:prstGeom prst="roundRect">
            <a:avLst>
              <a:gd name="adj" fmla="val 8889"/>
            </a:avLst>
          </a:prstGeom>
          <a:solidFill>
            <a:schemeClr val="bg2"/>
          </a:solidFill>
          <a:ln w="12700">
            <a:solidFill>
              <a:schemeClr val="bg2"/>
            </a:solidFill>
            <a:prstDash val="solid"/>
          </a:ln>
        </p:spPr>
      </p:sp>
      <p:sp>
        <p:nvSpPr>
          <p:cNvPr id="5" name="Text 2"/>
          <p:cNvSpPr txBox="1"/>
          <p:nvPr/>
        </p:nvSpPr>
        <p:spPr>
          <a:xfrm>
            <a:off x="731520" y="5029200"/>
            <a:ext cx="3136392" cy="1143000"/>
          </a:xfrm>
          <a:prstGeom prst="rect">
            <a:avLst/>
          </a:prstGeom>
          <a:noFill/>
          <a:ln/>
        </p:spPr>
        <p:txBody>
          <a:bodyPr wrap="square" lIns="0" tIns="0" rIns="0" bIns="0" rtlCol="0" anchor="ctr"/>
          <a:lstStyle/>
          <a:p>
            <a:pPr indent="0" marL="0">
              <a:buNone/>
            </a:pPr>
            <a:r>
              <a:rPr lang="en-US" sz="1200" b="1" dirty="0">
                <a:solidFill>
                  <a:srgbClr val="14213D"/>
                </a:solidFill>
              </a:rPr>
              <a:t>Built in: </a:t>
            </a:r>
            <a:pPr indent="0" marL="0">
              <a:buNone/>
            </a:pPr>
            <a:r>
              <a:rPr lang="en-US" sz="1200" dirty="0">
                <a:solidFill>
                  <a:schemeClr val="tx1"/>
                </a:solidFill>
              </a:rPr>
              <a:t>AP basket trades raise volatility, spreads and inefficiency in proportion to ETFOwn × |PMActivity|; HFT quotes lower spreads</a:t>
            </a:r>
            <a:endParaRPr lang="en-US" sz="1200" dirty="0"/>
          </a:p>
        </p:txBody>
      </p:sp>
      <p:sp>
        <p:nvSpPr>
          <p:cNvPr id="6" name="Lab II card 2"/>
          <p:cNvSpPr/>
          <p:nvPr/>
        </p:nvSpPr>
        <p:spPr>
          <a:xfrm>
            <a:off x="4325112" y="4983480"/>
            <a:ext cx="3502152" cy="1234440"/>
          </a:xfrm>
          <a:prstGeom prst="roundRect">
            <a:avLst>
              <a:gd name="adj" fmla="val 8889"/>
            </a:avLst>
          </a:prstGeom>
          <a:solidFill>
            <a:schemeClr val="bg2"/>
          </a:solidFill>
          <a:ln w="12700">
            <a:solidFill>
              <a:schemeClr val="bg2"/>
            </a:solidFill>
            <a:prstDash val="solid"/>
          </a:ln>
        </p:spPr>
      </p:sp>
      <p:sp>
        <p:nvSpPr>
          <p:cNvPr id="7" name="Text 4"/>
          <p:cNvSpPr txBox="1"/>
          <p:nvPr/>
        </p:nvSpPr>
        <p:spPr>
          <a:xfrm>
            <a:off x="4507992" y="5029200"/>
            <a:ext cx="3136392" cy="1143000"/>
          </a:xfrm>
          <a:prstGeom prst="rect">
            <a:avLst/>
          </a:prstGeom>
          <a:noFill/>
          <a:ln/>
        </p:spPr>
        <p:txBody>
          <a:bodyPr wrap="square" lIns="0" tIns="0" rIns="0" bIns="0" rtlCol="0" anchor="ctr"/>
          <a:lstStyle/>
          <a:p>
            <a:pPr indent="0" marL="0">
              <a:buNone/>
            </a:pPr>
            <a:r>
              <a:rPr lang="en-US" sz="1200" b="1" dirty="0">
                <a:solidFill>
                  <a:srgbClr val="14213D"/>
                </a:solidFill>
              </a:rPr>
              <a:t>Recovered: </a:t>
            </a:r>
            <a:pPr indent="0" marL="0">
              <a:buNone/>
            </a:pPr>
            <a:r>
              <a:rPr lang="en-US" sz="1200" dirty="0">
                <a:solidFill>
                  <a:schemeClr val="tx1"/>
                </a:solidFill>
              </a:rPr>
              <a:t>the paper's equation (10), with stock and day FE, finds both channels with the right signs and significance</a:t>
            </a:r>
            <a:endParaRPr lang="en-US" sz="1200" dirty="0"/>
          </a:p>
        </p:txBody>
      </p:sp>
      <p:sp>
        <p:nvSpPr>
          <p:cNvPr id="8" name="Lab II card 3"/>
          <p:cNvSpPr/>
          <p:nvPr/>
        </p:nvSpPr>
        <p:spPr>
          <a:xfrm>
            <a:off x="8101584" y="4983480"/>
            <a:ext cx="3502152" cy="1234440"/>
          </a:xfrm>
          <a:prstGeom prst="roundRect">
            <a:avLst>
              <a:gd name="adj" fmla="val 8889"/>
            </a:avLst>
          </a:prstGeom>
          <a:solidFill>
            <a:schemeClr val="bg2"/>
          </a:solidFill>
          <a:ln w="12700">
            <a:solidFill>
              <a:schemeClr val="bg2"/>
            </a:solidFill>
            <a:prstDash val="solid"/>
          </a:ln>
        </p:spPr>
      </p:sp>
      <p:sp>
        <p:nvSpPr>
          <p:cNvPr id="9" name="Text 6"/>
          <p:cNvSpPr txBox="1"/>
          <p:nvPr/>
        </p:nvSpPr>
        <p:spPr>
          <a:xfrm>
            <a:off x="8284464" y="5029200"/>
            <a:ext cx="3136392" cy="1143000"/>
          </a:xfrm>
          <a:prstGeom prst="rect">
            <a:avLst/>
          </a:prstGeom>
          <a:noFill/>
          <a:ln/>
        </p:spPr>
        <p:txBody>
          <a:bodyPr wrap="square" lIns="0" tIns="0" rIns="0" bIns="0" rtlCol="0" anchor="ctr"/>
          <a:lstStyle/>
          <a:p>
            <a:pPr indent="0" marL="0">
              <a:buNone/>
            </a:pPr>
            <a:r>
              <a:rPr lang="en-US" sz="1200" b="1" dirty="0">
                <a:solidFill>
                  <a:srgbClr val="14213D"/>
                </a:solidFill>
              </a:rPr>
              <a:t>Caveat: </a:t>
            </a:r>
            <a:pPr indent="0" marL="0">
              <a:buNone/>
            </a:pPr>
            <a:r>
              <a:rPr lang="en-US" sz="1200" dirty="0">
                <a:solidFill>
                  <a:schemeClr val="tx1"/>
                </a:solidFill>
              </a:rPr>
              <a:t>a simulation proves the method can see the channels, not that they exist; that needs data (notebook §5–6)</a:t>
            </a:r>
            <a:endParaRPr lang="en-US" sz="12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Our lab III: the BoJ design works, with care</a:t>
            </a:r>
            <a:endParaRPr lang="en-US" sz="3200" dirty="0"/>
          </a:p>
        </p:txBody>
      </p:sp>
      <p:pic>
        <p:nvPicPr>
          <p:cNvPr id="3" name="Monte Carlo figure" descr="/home/user/Finances/ETF_effects_The_role_of_primary_versus_secondary_market_activities/figures/jp_montecarlo.png">    </p:cNvPr>
          <p:cNvPicPr>
            <a:picLocks noChangeAspect="1"/>
          </p:cNvPicPr>
          <p:nvPr/>
        </p:nvPicPr>
        <p:blipFill>
          <a:blip r:embed="rId1"/>
          <a:stretch>
            <a:fillRect/>
          </a:stretch>
        </p:blipFill>
        <p:spPr>
          <a:xfrm>
            <a:off x="548640" y="1325880"/>
            <a:ext cx="11094415" cy="3170739"/>
          </a:xfrm>
          <a:prstGeom prst="rect">
            <a:avLst/>
          </a:prstGeom>
        </p:spPr>
      </p:pic>
      <p:sp>
        <p:nvSpPr>
          <p:cNvPr id="4" name="Monte Carlo card"/>
          <p:cNvSpPr/>
          <p:nvPr/>
        </p:nvSpPr>
        <p:spPr>
          <a:xfrm>
            <a:off x="548640" y="4709160"/>
            <a:ext cx="5394960" cy="1508760"/>
          </a:xfrm>
          <a:prstGeom prst="roundRect">
            <a:avLst>
              <a:gd name="adj" fmla="val 7273"/>
            </a:avLst>
          </a:prstGeom>
          <a:solidFill>
            <a:schemeClr val="bg2"/>
          </a:solidFill>
          <a:ln w="12700">
            <a:solidFill>
              <a:schemeClr val="bg2"/>
            </a:solidFill>
            <a:prstDash val="solid"/>
          </a:ln>
        </p:spPr>
      </p:sp>
      <p:sp>
        <p:nvSpPr>
          <p:cNvPr id="5" name="Text 2"/>
          <p:cNvSpPr txBox="1"/>
          <p:nvPr/>
        </p:nvSpPr>
        <p:spPr>
          <a:xfrm>
            <a:off x="777240" y="4754880"/>
            <a:ext cx="4937760" cy="1417320"/>
          </a:xfrm>
          <a:prstGeom prst="rect">
            <a:avLst/>
          </a:prstGeom>
          <a:noFill/>
          <a:ln/>
        </p:spPr>
        <p:txBody>
          <a:bodyPr wrap="square" lIns="0" tIns="0" rIns="0" bIns="0" rtlCol="0" anchor="ctr"/>
          <a:lstStyle/>
          <a:p>
            <a:pPr indent="0" marL="0">
              <a:buNone/>
            </a:pPr>
            <a:r>
              <a:rPr lang="en-US" sz="1400" b="1" dirty="0">
                <a:solidFill>
                  <a:srgbClr val="14213D"/>
                </a:solidFill>
              </a:rPr>
              <a:t>Monte Carlo, 20 paper-sized markets: </a:t>
            </a:r>
            <a:pPr indent="0" marL="0">
              <a:buNone/>
            </a:pPr>
            <a:r>
              <a:rPr lang="en-US" sz="1400" dirty="0">
                <a:solidFill>
                  <a:schemeClr val="tx1"/>
                </a:solidFill>
              </a:rPr>
              <a:t>BoJ-day estimates centre on the true effect, placebo estimates on zero, so Panels A–C of Table 8 behave as intended.</a:t>
            </a:r>
            <a:endParaRPr lang="en-US" sz="1400" dirty="0"/>
          </a:p>
        </p:txBody>
      </p:sp>
      <p:sp>
        <p:nvSpPr>
          <p:cNvPr id="6" name="Pitfall card"/>
          <p:cNvSpPr/>
          <p:nvPr/>
        </p:nvSpPr>
        <p:spPr>
          <a:xfrm>
            <a:off x="6217920" y="4709160"/>
            <a:ext cx="5422392" cy="1508760"/>
          </a:xfrm>
          <a:prstGeom prst="roundRect">
            <a:avLst>
              <a:gd name="adj" fmla="val 7273"/>
            </a:avLst>
          </a:prstGeom>
          <a:solidFill>
            <a:srgbClr val="FBE3D9"/>
          </a:solidFill>
          <a:ln w="12700">
            <a:solidFill>
              <a:srgbClr val="FBE3D9"/>
            </a:solidFill>
            <a:prstDash val="solid"/>
          </a:ln>
        </p:spPr>
      </p:sp>
      <p:sp>
        <p:nvSpPr>
          <p:cNvPr id="7" name="Text 4"/>
          <p:cNvSpPr txBox="1"/>
          <p:nvPr/>
        </p:nvSpPr>
        <p:spPr>
          <a:xfrm>
            <a:off x="6446520" y="4754880"/>
            <a:ext cx="4983480" cy="1417320"/>
          </a:xfrm>
          <a:prstGeom prst="rect">
            <a:avLst/>
          </a:prstGeom>
          <a:noFill/>
          <a:ln/>
        </p:spPr>
        <p:txBody>
          <a:bodyPr wrap="square" lIns="0" tIns="0" rIns="0" bIns="0" rtlCol="0" anchor="ctr"/>
          <a:lstStyle/>
          <a:p>
            <a:pPr indent="0" marL="0">
              <a:buNone/>
            </a:pPr>
            <a:r>
              <a:rPr lang="en-US" sz="1400" b="1" dirty="0">
                <a:solidFill>
                  <a:srgbClr val="14213D"/>
                </a:solidFill>
              </a:rPr>
              <a:t>Pitfall we found: </a:t>
            </a:r>
            <a:pPr indent="0" marL="0">
              <a:buNone/>
            </a:pPr>
            <a:r>
              <a:rPr lang="en-US" sz="1400" dirty="0">
                <a:solidFill>
                  <a:schemeClr val="tx1"/>
                </a:solidFill>
              </a:rPr>
              <a:t>same-day Nikkei weights contain the same-day price; on random data they produced a spurious return effect (t ≈ 5). Weights must come from the previous close.</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Critical assessment</a:t>
            </a:r>
            <a:endParaRPr lang="en-US" sz="3200" dirty="0"/>
          </a:p>
        </p:txBody>
      </p:sp>
      <p:sp>
        <p:nvSpPr>
          <p:cNvPr id="3" name="Critique card 1"/>
          <p:cNvSpPr/>
          <p:nvPr/>
        </p:nvSpPr>
        <p:spPr>
          <a:xfrm>
            <a:off x="548640" y="1371600"/>
            <a:ext cx="3502152" cy="2194560"/>
          </a:xfrm>
          <a:prstGeom prst="roundRect">
            <a:avLst>
              <a:gd name="adj" fmla="val 5000"/>
            </a:avLst>
          </a:prstGeom>
          <a:solidFill>
            <a:schemeClr val="bg2"/>
          </a:solidFill>
          <a:ln w="12700">
            <a:solidFill>
              <a:schemeClr val="bg2"/>
            </a:solidFill>
            <a:prstDash val="solid"/>
          </a:ln>
        </p:spPr>
      </p:sp>
      <p:sp>
        <p:nvSpPr>
          <p:cNvPr id="4" name="Critique 1 circle"/>
          <p:cNvSpPr/>
          <p:nvPr/>
        </p:nvSpPr>
        <p:spPr>
          <a:xfrm>
            <a:off x="777240" y="1600200"/>
            <a:ext cx="548640" cy="548640"/>
          </a:xfrm>
          <a:prstGeom prst="ellipse">
            <a:avLst/>
          </a:prstGeom>
          <a:solidFill>
            <a:schemeClr val="accent2"/>
          </a:solidFill>
          <a:ln w="12700">
            <a:solidFill>
              <a:schemeClr val="accent2"/>
            </a:solidFill>
            <a:prstDash val="solid"/>
          </a:ln>
        </p:spPr>
      </p:sp>
      <p:pic>
        <p:nvPicPr>
          <p:cNvPr id="5" name="Critique 1 icon" descr="preencoded.png">    </p:cNvPr>
          <p:cNvPicPr>
            <a:picLocks noChangeAspect="1"/>
          </p:cNvPicPr>
          <p:nvPr/>
        </p:nvPicPr>
        <p:blipFill>
          <a:blip r:embed="rId1"/>
          <a:stretch>
            <a:fillRect/>
          </a:stretch>
        </p:blipFill>
        <p:spPr>
          <a:xfrm>
            <a:off x="908914" y="1731874"/>
            <a:ext cx="285293" cy="285293"/>
          </a:xfrm>
          <a:prstGeom prst="rect">
            <a:avLst/>
          </a:prstGeom>
        </p:spPr>
      </p:pic>
      <p:sp>
        <p:nvSpPr>
          <p:cNvPr id="6" name="Text 3"/>
          <p:cNvSpPr txBox="1"/>
          <p:nvPr/>
        </p:nvSpPr>
        <p:spPr>
          <a:xfrm>
            <a:off x="1463040" y="1600200"/>
            <a:ext cx="2404872" cy="548640"/>
          </a:xfrm>
          <a:prstGeom prst="rect">
            <a:avLst/>
          </a:prstGeom>
          <a:noFill/>
          <a:ln/>
        </p:spPr>
        <p:txBody>
          <a:bodyPr wrap="square" lIns="0" tIns="0" rIns="0" bIns="0" rtlCol="0" anchor="ctr"/>
          <a:lstStyle/>
          <a:p>
            <a:pPr indent="0" marL="0">
              <a:buNone/>
            </a:pPr>
            <a:r>
              <a:rPr lang="en-US" sz="1700" b="1" dirty="0">
                <a:solidFill>
                  <a:schemeClr val="tx2"/>
                </a:solidFill>
              </a:rPr>
              <a:t>Narrow French sample</a:t>
            </a:r>
            <a:endParaRPr lang="en-US" sz="1700" dirty="0"/>
          </a:p>
        </p:txBody>
      </p:sp>
      <p:sp>
        <p:nvSpPr>
          <p:cNvPr id="7" name="Text 4"/>
          <p:cNvSpPr txBox="1"/>
          <p:nvPr/>
        </p:nvSpPr>
        <p:spPr>
          <a:xfrm>
            <a:off x="777240" y="2286000"/>
            <a:ext cx="3044952" cy="1188720"/>
          </a:xfrm>
          <a:prstGeom prst="rect">
            <a:avLst/>
          </a:prstGeom>
          <a:noFill/>
          <a:ln/>
        </p:spPr>
        <p:txBody>
          <a:bodyPr wrap="square" lIns="0" tIns="0" rIns="0" bIns="0" rtlCol="0" anchor="t"/>
          <a:lstStyle/>
          <a:p>
            <a:pPr indent="0" marL="0">
              <a:buNone/>
            </a:pPr>
            <a:r>
              <a:rPr lang="en-US" sz="1400" dirty="0">
                <a:solidFill>
                  <a:schemeClr val="tx1"/>
                </a:solidFill>
              </a:rPr>
              <a:t>One year (2015); stock tests rest on a single ETF; Table 6 has 255 observations</a:t>
            </a:r>
            <a:endParaRPr lang="en-US" sz="1400" dirty="0"/>
          </a:p>
        </p:txBody>
      </p:sp>
      <p:sp>
        <p:nvSpPr>
          <p:cNvPr id="8" name="Critique card 2"/>
          <p:cNvSpPr/>
          <p:nvPr/>
        </p:nvSpPr>
        <p:spPr>
          <a:xfrm>
            <a:off x="4325112" y="1371600"/>
            <a:ext cx="3502152" cy="2194560"/>
          </a:xfrm>
          <a:prstGeom prst="roundRect">
            <a:avLst>
              <a:gd name="adj" fmla="val 5000"/>
            </a:avLst>
          </a:prstGeom>
          <a:solidFill>
            <a:schemeClr val="bg2"/>
          </a:solidFill>
          <a:ln w="12700">
            <a:solidFill>
              <a:schemeClr val="bg2"/>
            </a:solidFill>
            <a:prstDash val="solid"/>
          </a:ln>
        </p:spPr>
      </p:sp>
      <p:sp>
        <p:nvSpPr>
          <p:cNvPr id="9" name="Critique 2 circle"/>
          <p:cNvSpPr/>
          <p:nvPr/>
        </p:nvSpPr>
        <p:spPr>
          <a:xfrm>
            <a:off x="4553712" y="1600200"/>
            <a:ext cx="548640" cy="548640"/>
          </a:xfrm>
          <a:prstGeom prst="ellipse">
            <a:avLst/>
          </a:prstGeom>
          <a:solidFill>
            <a:schemeClr val="accent2"/>
          </a:solidFill>
          <a:ln w="12700">
            <a:solidFill>
              <a:schemeClr val="accent2"/>
            </a:solidFill>
            <a:prstDash val="solid"/>
          </a:ln>
        </p:spPr>
      </p:sp>
      <p:pic>
        <p:nvPicPr>
          <p:cNvPr id="10" name="Critique 2 icon" descr="preencoded.png">    </p:cNvPr>
          <p:cNvPicPr>
            <a:picLocks noChangeAspect="1"/>
          </p:cNvPicPr>
          <p:nvPr/>
        </p:nvPicPr>
        <p:blipFill>
          <a:blip r:embed="rId2"/>
          <a:stretch>
            <a:fillRect/>
          </a:stretch>
        </p:blipFill>
        <p:spPr>
          <a:xfrm>
            <a:off x="4685386" y="1731874"/>
            <a:ext cx="285293" cy="285293"/>
          </a:xfrm>
          <a:prstGeom prst="rect">
            <a:avLst/>
          </a:prstGeom>
        </p:spPr>
      </p:pic>
      <p:sp>
        <p:nvSpPr>
          <p:cNvPr id="11" name="Text 7"/>
          <p:cNvSpPr txBox="1"/>
          <p:nvPr/>
        </p:nvSpPr>
        <p:spPr>
          <a:xfrm>
            <a:off x="5239512" y="1600200"/>
            <a:ext cx="2404872" cy="548640"/>
          </a:xfrm>
          <a:prstGeom prst="rect">
            <a:avLst/>
          </a:prstGeom>
          <a:noFill/>
          <a:ln/>
        </p:spPr>
        <p:txBody>
          <a:bodyPr wrap="square" lIns="0" tIns="0" rIns="0" bIns="0" rtlCol="0" anchor="ctr"/>
          <a:lstStyle/>
          <a:p>
            <a:pPr indent="0" marL="0">
              <a:buNone/>
            </a:pPr>
            <a:r>
              <a:rPr lang="en-US" sz="1700" b="1" dirty="0">
                <a:solidFill>
                  <a:schemeClr val="tx2"/>
                </a:solidFill>
              </a:rPr>
              <a:t>Noisy proxies</a:t>
            </a:r>
            <a:endParaRPr lang="en-US" sz="1700" dirty="0"/>
          </a:p>
        </p:txBody>
      </p:sp>
      <p:sp>
        <p:nvSpPr>
          <p:cNvPr id="12" name="Text 8"/>
          <p:cNvSpPr txBox="1"/>
          <p:nvPr/>
        </p:nvSpPr>
        <p:spPr>
          <a:xfrm>
            <a:off x="4553712" y="2286000"/>
            <a:ext cx="3044952" cy="1188720"/>
          </a:xfrm>
          <a:prstGeom prst="rect">
            <a:avLst/>
          </a:prstGeom>
          <a:noFill/>
          <a:ln/>
        </p:spPr>
        <p:txBody>
          <a:bodyPr wrap="square" lIns="0" tIns="0" rIns="0" bIns="0" rtlCol="0" anchor="t"/>
          <a:lstStyle/>
          <a:p>
            <a:pPr indent="0" marL="0">
              <a:buNone/>
            </a:pPr>
            <a:r>
              <a:rPr lang="en-US" sz="1400" dirty="0">
                <a:solidFill>
                  <a:schemeClr val="tx1"/>
                </a:solidFill>
              </a:rPr>
              <a:t>Units outstanding settle with lags (up to 5 days in the US); the HFT flag excludes bank desks</a:t>
            </a:r>
            <a:endParaRPr lang="en-US" sz="1400" dirty="0"/>
          </a:p>
        </p:txBody>
      </p:sp>
      <p:sp>
        <p:nvSpPr>
          <p:cNvPr id="13" name="Critique card 3"/>
          <p:cNvSpPr/>
          <p:nvPr/>
        </p:nvSpPr>
        <p:spPr>
          <a:xfrm>
            <a:off x="8101584" y="1371600"/>
            <a:ext cx="3502152" cy="2194560"/>
          </a:xfrm>
          <a:prstGeom prst="roundRect">
            <a:avLst>
              <a:gd name="adj" fmla="val 5000"/>
            </a:avLst>
          </a:prstGeom>
          <a:solidFill>
            <a:schemeClr val="bg2"/>
          </a:solidFill>
          <a:ln w="12700">
            <a:solidFill>
              <a:schemeClr val="bg2"/>
            </a:solidFill>
            <a:prstDash val="solid"/>
          </a:ln>
        </p:spPr>
      </p:sp>
      <p:sp>
        <p:nvSpPr>
          <p:cNvPr id="14" name="Critique 3 circle"/>
          <p:cNvSpPr/>
          <p:nvPr/>
        </p:nvSpPr>
        <p:spPr>
          <a:xfrm>
            <a:off x="8330184" y="1600200"/>
            <a:ext cx="548640" cy="548640"/>
          </a:xfrm>
          <a:prstGeom prst="ellipse">
            <a:avLst/>
          </a:prstGeom>
          <a:solidFill>
            <a:schemeClr val="accent2"/>
          </a:solidFill>
          <a:ln w="12700">
            <a:solidFill>
              <a:schemeClr val="accent2"/>
            </a:solidFill>
            <a:prstDash val="solid"/>
          </a:ln>
        </p:spPr>
      </p:sp>
      <p:pic>
        <p:nvPicPr>
          <p:cNvPr id="15" name="Critique 3 icon" descr="preencoded.png">    </p:cNvPr>
          <p:cNvPicPr>
            <a:picLocks noChangeAspect="1"/>
          </p:cNvPicPr>
          <p:nvPr/>
        </p:nvPicPr>
        <p:blipFill>
          <a:blip r:embed="rId3"/>
          <a:stretch>
            <a:fillRect/>
          </a:stretch>
        </p:blipFill>
        <p:spPr>
          <a:xfrm>
            <a:off x="8461858" y="1731874"/>
            <a:ext cx="285293" cy="285293"/>
          </a:xfrm>
          <a:prstGeom prst="rect">
            <a:avLst/>
          </a:prstGeom>
        </p:spPr>
      </p:pic>
      <p:sp>
        <p:nvSpPr>
          <p:cNvPr id="16" name="Text 11"/>
          <p:cNvSpPr txBox="1"/>
          <p:nvPr/>
        </p:nvSpPr>
        <p:spPr>
          <a:xfrm>
            <a:off x="9015984" y="1600200"/>
            <a:ext cx="2404872" cy="548640"/>
          </a:xfrm>
          <a:prstGeom prst="rect">
            <a:avLst/>
          </a:prstGeom>
          <a:noFill/>
          <a:ln/>
        </p:spPr>
        <p:txBody>
          <a:bodyPr wrap="square" lIns="0" tIns="0" rIns="0" bIns="0" rtlCol="0" anchor="ctr"/>
          <a:lstStyle/>
          <a:p>
            <a:pPr indent="0" marL="0">
              <a:buNone/>
            </a:pPr>
            <a:r>
              <a:rPr lang="en-US" sz="1700" b="1" dirty="0">
                <a:solidFill>
                  <a:schemeClr val="tx2"/>
                </a:solidFill>
              </a:rPr>
              <a:t>Creations only</a:t>
            </a:r>
            <a:endParaRPr lang="en-US" sz="1700" dirty="0"/>
          </a:p>
        </p:txBody>
      </p:sp>
      <p:sp>
        <p:nvSpPr>
          <p:cNvPr id="17" name="Text 12"/>
          <p:cNvSpPr txBox="1"/>
          <p:nvPr/>
        </p:nvSpPr>
        <p:spPr>
          <a:xfrm>
            <a:off x="8330184" y="2286000"/>
            <a:ext cx="3044952" cy="1188720"/>
          </a:xfrm>
          <a:prstGeom prst="rect">
            <a:avLst/>
          </a:prstGeom>
          <a:noFill/>
          <a:ln/>
        </p:spPr>
        <p:txBody>
          <a:bodyPr wrap="square" lIns="0" tIns="0" rIns="0" bIns="0" rtlCol="0" anchor="t"/>
          <a:lstStyle/>
          <a:p>
            <a:pPr indent="0" marL="0">
              <a:buNone/>
            </a:pPr>
            <a:r>
              <a:rPr lang="en-US" sz="1400" dirty="0">
                <a:solidFill>
                  <a:schemeClr val="tx1"/>
                </a:solidFill>
              </a:rPr>
              <a:t>The BoJ only bought, so redemptions — the fragility scenario — are untested</a:t>
            </a:r>
            <a:endParaRPr lang="en-US" sz="1400" dirty="0"/>
          </a:p>
        </p:txBody>
      </p:sp>
      <p:sp>
        <p:nvSpPr>
          <p:cNvPr id="18" name="Critique card 4"/>
          <p:cNvSpPr/>
          <p:nvPr/>
        </p:nvSpPr>
        <p:spPr>
          <a:xfrm>
            <a:off x="548640" y="3794760"/>
            <a:ext cx="3502152" cy="2194560"/>
          </a:xfrm>
          <a:prstGeom prst="roundRect">
            <a:avLst>
              <a:gd name="adj" fmla="val 5000"/>
            </a:avLst>
          </a:prstGeom>
          <a:solidFill>
            <a:schemeClr val="bg2"/>
          </a:solidFill>
          <a:ln w="12700">
            <a:solidFill>
              <a:schemeClr val="bg2"/>
            </a:solidFill>
            <a:prstDash val="solid"/>
          </a:ln>
        </p:spPr>
      </p:sp>
      <p:sp>
        <p:nvSpPr>
          <p:cNvPr id="19" name="Critique 4 circle"/>
          <p:cNvSpPr/>
          <p:nvPr/>
        </p:nvSpPr>
        <p:spPr>
          <a:xfrm>
            <a:off x="777240" y="4023360"/>
            <a:ext cx="548640" cy="548640"/>
          </a:xfrm>
          <a:prstGeom prst="ellipse">
            <a:avLst/>
          </a:prstGeom>
          <a:solidFill>
            <a:schemeClr val="accent2"/>
          </a:solidFill>
          <a:ln w="12700">
            <a:solidFill>
              <a:schemeClr val="accent2"/>
            </a:solidFill>
            <a:prstDash val="solid"/>
          </a:ln>
        </p:spPr>
      </p:sp>
      <p:pic>
        <p:nvPicPr>
          <p:cNvPr id="20" name="Critique 4 icon" descr="preencoded.png">    </p:cNvPr>
          <p:cNvPicPr>
            <a:picLocks noChangeAspect="1"/>
          </p:cNvPicPr>
          <p:nvPr/>
        </p:nvPicPr>
        <p:blipFill>
          <a:blip r:embed="rId4"/>
          <a:stretch>
            <a:fillRect/>
          </a:stretch>
        </p:blipFill>
        <p:spPr>
          <a:xfrm>
            <a:off x="908914" y="4155034"/>
            <a:ext cx="285293" cy="285293"/>
          </a:xfrm>
          <a:prstGeom prst="rect">
            <a:avLst/>
          </a:prstGeom>
        </p:spPr>
      </p:pic>
      <p:sp>
        <p:nvSpPr>
          <p:cNvPr id="21" name="Text 15"/>
          <p:cNvSpPr txBox="1"/>
          <p:nvPr/>
        </p:nvSpPr>
        <p:spPr>
          <a:xfrm>
            <a:off x="1463040" y="4023360"/>
            <a:ext cx="2404872" cy="548640"/>
          </a:xfrm>
          <a:prstGeom prst="rect">
            <a:avLst/>
          </a:prstGeom>
          <a:noFill/>
          <a:ln/>
        </p:spPr>
        <p:txBody>
          <a:bodyPr wrap="square" lIns="0" tIns="0" rIns="0" bIns="0" rtlCol="0" anchor="ctr"/>
          <a:lstStyle/>
          <a:p>
            <a:pPr indent="0" marL="0">
              <a:buNone/>
            </a:pPr>
            <a:r>
              <a:rPr lang="en-US" sz="1700" b="1" dirty="0">
                <a:solidFill>
                  <a:schemeClr val="tx2"/>
                </a:solidFill>
              </a:rPr>
              <a:t>Selected days, extreme dose</a:t>
            </a:r>
            <a:endParaRPr lang="en-US" sz="1700" dirty="0"/>
          </a:p>
        </p:txBody>
      </p:sp>
      <p:sp>
        <p:nvSpPr>
          <p:cNvPr id="22" name="Text 16"/>
          <p:cNvSpPr txBox="1"/>
          <p:nvPr/>
        </p:nvSpPr>
        <p:spPr>
          <a:xfrm>
            <a:off x="777240" y="4709160"/>
            <a:ext cx="3044952" cy="1188720"/>
          </a:xfrm>
          <a:prstGeom prst="rect">
            <a:avLst/>
          </a:prstGeom>
          <a:noFill/>
          <a:ln/>
        </p:spPr>
        <p:txBody>
          <a:bodyPr wrap="square" lIns="0" tIns="0" rIns="0" bIns="0" rtlCol="0" anchor="t"/>
          <a:lstStyle/>
          <a:p>
            <a:pPr indent="0" marL="0">
              <a:buNone/>
            </a:pPr>
            <a:r>
              <a:rPr lang="en-US" sz="1400" dirty="0">
                <a:solidFill>
                  <a:schemeClr val="tx1"/>
                </a:solidFill>
              </a:rPr>
              <a:t>Purchases followed weak mornings; ¥70bn per day is far from routine arbitrage</a:t>
            </a:r>
            <a:endParaRPr lang="en-US" sz="1400" dirty="0"/>
          </a:p>
        </p:txBody>
      </p:sp>
      <p:sp>
        <p:nvSpPr>
          <p:cNvPr id="23" name="Critique card 5"/>
          <p:cNvSpPr/>
          <p:nvPr/>
        </p:nvSpPr>
        <p:spPr>
          <a:xfrm>
            <a:off x="4325112" y="3794760"/>
            <a:ext cx="3502152" cy="2194560"/>
          </a:xfrm>
          <a:prstGeom prst="roundRect">
            <a:avLst>
              <a:gd name="adj" fmla="val 5000"/>
            </a:avLst>
          </a:prstGeom>
          <a:solidFill>
            <a:schemeClr val="bg2"/>
          </a:solidFill>
          <a:ln w="12700">
            <a:solidFill>
              <a:schemeClr val="bg2"/>
            </a:solidFill>
            <a:prstDash val="solid"/>
          </a:ln>
        </p:spPr>
      </p:sp>
      <p:sp>
        <p:nvSpPr>
          <p:cNvPr id="24" name="Critique 5 circle"/>
          <p:cNvSpPr/>
          <p:nvPr/>
        </p:nvSpPr>
        <p:spPr>
          <a:xfrm>
            <a:off x="4553712" y="4023360"/>
            <a:ext cx="548640" cy="548640"/>
          </a:xfrm>
          <a:prstGeom prst="ellipse">
            <a:avLst/>
          </a:prstGeom>
          <a:solidFill>
            <a:schemeClr val="accent1"/>
          </a:solidFill>
          <a:ln w="12700">
            <a:solidFill>
              <a:schemeClr val="accent1"/>
            </a:solidFill>
            <a:prstDash val="solid"/>
          </a:ln>
        </p:spPr>
      </p:sp>
      <p:pic>
        <p:nvPicPr>
          <p:cNvPr id="25" name="Critique 5 icon" descr="preencoded.png">    </p:cNvPr>
          <p:cNvPicPr>
            <a:picLocks noChangeAspect="1"/>
          </p:cNvPicPr>
          <p:nvPr/>
        </p:nvPicPr>
        <p:blipFill>
          <a:blip r:embed="rId5"/>
          <a:stretch>
            <a:fillRect/>
          </a:stretch>
        </p:blipFill>
        <p:spPr>
          <a:xfrm>
            <a:off x="4685386" y="4155034"/>
            <a:ext cx="285293" cy="285293"/>
          </a:xfrm>
          <a:prstGeom prst="rect">
            <a:avLst/>
          </a:prstGeom>
        </p:spPr>
      </p:pic>
      <p:sp>
        <p:nvSpPr>
          <p:cNvPr id="26" name="Text 19"/>
          <p:cNvSpPr txBox="1"/>
          <p:nvPr/>
        </p:nvSpPr>
        <p:spPr>
          <a:xfrm>
            <a:off x="5239512" y="4023360"/>
            <a:ext cx="2404872" cy="548640"/>
          </a:xfrm>
          <a:prstGeom prst="rect">
            <a:avLst/>
          </a:prstGeom>
          <a:noFill/>
          <a:ln/>
        </p:spPr>
        <p:txBody>
          <a:bodyPr wrap="square" lIns="0" tIns="0" rIns="0" bIns="0" rtlCol="0" anchor="ctr"/>
          <a:lstStyle/>
          <a:p>
            <a:pPr indent="0" marL="0">
              <a:buNone/>
            </a:pPr>
            <a:r>
              <a:rPr lang="en-US" sz="1700" b="1" dirty="0">
                <a:solidFill>
                  <a:schemeClr val="tx2"/>
                </a:solidFill>
              </a:rPr>
              <a:t>Trend ≠ causality</a:t>
            </a:r>
            <a:endParaRPr lang="en-US" sz="1700" dirty="0"/>
          </a:p>
        </p:txBody>
      </p:sp>
      <p:sp>
        <p:nvSpPr>
          <p:cNvPr id="27" name="Text 20"/>
          <p:cNvSpPr txBox="1"/>
          <p:nvPr/>
        </p:nvSpPr>
        <p:spPr>
          <a:xfrm>
            <a:off x="4553712" y="4709160"/>
            <a:ext cx="3044952" cy="1188720"/>
          </a:xfrm>
          <a:prstGeom prst="rect">
            <a:avLst/>
          </a:prstGeom>
          <a:noFill/>
          <a:ln/>
        </p:spPr>
        <p:txBody>
          <a:bodyPr wrap="square" lIns="0" tIns="0" rIns="0" bIns="0" rtlCol="0" anchor="t"/>
          <a:lstStyle/>
          <a:p>
            <a:pPr indent="0" marL="0">
              <a:buNone/>
            </a:pPr>
            <a:r>
              <a:rPr lang="en-US" sz="1400" dirty="0">
                <a:solidFill>
                  <a:schemeClr val="tx1"/>
                </a:solidFill>
              </a:rPr>
              <a:t>TSE cut tick sizes for TOPIX100 in 2014–15, mechanically narrowing spreads; trend regressions need Newey–West SEs</a:t>
            </a:r>
            <a:endParaRPr lang="en-US" sz="1400" dirty="0"/>
          </a:p>
        </p:txBody>
      </p:sp>
      <p:sp>
        <p:nvSpPr>
          <p:cNvPr id="28" name="Critique card 6"/>
          <p:cNvSpPr/>
          <p:nvPr/>
        </p:nvSpPr>
        <p:spPr>
          <a:xfrm>
            <a:off x="8101584" y="3794760"/>
            <a:ext cx="3502152" cy="2194560"/>
          </a:xfrm>
          <a:prstGeom prst="roundRect">
            <a:avLst>
              <a:gd name="adj" fmla="val 5000"/>
            </a:avLst>
          </a:prstGeom>
          <a:solidFill>
            <a:schemeClr val="bg2"/>
          </a:solidFill>
          <a:ln w="12700">
            <a:solidFill>
              <a:schemeClr val="bg2"/>
            </a:solidFill>
            <a:prstDash val="solid"/>
          </a:ln>
        </p:spPr>
      </p:sp>
      <p:sp>
        <p:nvSpPr>
          <p:cNvPr id="29" name="Critique 6 circle"/>
          <p:cNvSpPr/>
          <p:nvPr/>
        </p:nvSpPr>
        <p:spPr>
          <a:xfrm>
            <a:off x="8330184" y="4023360"/>
            <a:ext cx="548640" cy="548640"/>
          </a:xfrm>
          <a:prstGeom prst="ellipse">
            <a:avLst/>
          </a:prstGeom>
          <a:solidFill>
            <a:schemeClr val="accent1"/>
          </a:solidFill>
          <a:ln w="12700">
            <a:solidFill>
              <a:schemeClr val="accent1"/>
            </a:solidFill>
            <a:prstDash val="solid"/>
          </a:ln>
        </p:spPr>
      </p:sp>
      <p:pic>
        <p:nvPicPr>
          <p:cNvPr id="30" name="Critique 6 icon" descr="preencoded.png">    </p:cNvPr>
          <p:cNvPicPr>
            <a:picLocks noChangeAspect="1"/>
          </p:cNvPicPr>
          <p:nvPr/>
        </p:nvPicPr>
        <p:blipFill>
          <a:blip r:embed="rId6"/>
          <a:stretch>
            <a:fillRect/>
          </a:stretch>
        </p:blipFill>
        <p:spPr>
          <a:xfrm>
            <a:off x="8461858" y="4155034"/>
            <a:ext cx="285293" cy="285293"/>
          </a:xfrm>
          <a:prstGeom prst="rect">
            <a:avLst/>
          </a:prstGeom>
        </p:spPr>
      </p:pic>
      <p:sp>
        <p:nvSpPr>
          <p:cNvPr id="31" name="Text 23"/>
          <p:cNvSpPr txBox="1"/>
          <p:nvPr/>
        </p:nvSpPr>
        <p:spPr>
          <a:xfrm>
            <a:off x="9015984" y="4023360"/>
            <a:ext cx="2404872" cy="548640"/>
          </a:xfrm>
          <a:prstGeom prst="rect">
            <a:avLst/>
          </a:prstGeom>
          <a:noFill/>
          <a:ln/>
        </p:spPr>
        <p:txBody>
          <a:bodyPr wrap="square" lIns="0" tIns="0" rIns="0" bIns="0" rtlCol="0" anchor="ctr"/>
          <a:lstStyle/>
          <a:p>
            <a:pPr indent="0" marL="0">
              <a:buNone/>
            </a:pPr>
            <a:r>
              <a:rPr lang="en-US" sz="1700" b="1" dirty="0">
                <a:solidFill>
                  <a:schemeClr val="tx2"/>
                </a:solidFill>
              </a:rPr>
              <a:t>Units &amp; consistency</a:t>
            </a:r>
            <a:endParaRPr lang="en-US" sz="1700" dirty="0"/>
          </a:p>
        </p:txBody>
      </p:sp>
      <p:sp>
        <p:nvSpPr>
          <p:cNvPr id="32" name="Text 24"/>
          <p:cNvSpPr txBox="1"/>
          <p:nvPr/>
        </p:nvSpPr>
        <p:spPr>
          <a:xfrm>
            <a:off x="8330184" y="4709160"/>
            <a:ext cx="3044952" cy="1188720"/>
          </a:xfrm>
          <a:prstGeom prst="rect">
            <a:avLst/>
          </a:prstGeom>
          <a:noFill/>
          <a:ln/>
        </p:spPr>
        <p:txBody>
          <a:bodyPr wrap="square" lIns="0" tIns="0" rIns="0" bIns="0" rtlCol="0" anchor="t"/>
          <a:lstStyle/>
          <a:p>
            <a:pPr indent="0" marL="0">
              <a:buNone/>
            </a:pPr>
            <a:r>
              <a:rPr lang="en-US" sz="1400" dirty="0">
                <a:solidFill>
                  <a:schemeClr val="tx1"/>
                </a:solidFill>
              </a:rPr>
              <a:t>PMStockActivity mean 0.33% vs. ≈0.01–0.02% implied by ¥70bn on ¥300–600trn; text vs. Table 9 slopes differ</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Since publication: the BoJ is now selling</a:t>
            </a:r>
            <a:endParaRPr lang="en-US" sz="3200" dirty="0"/>
          </a:p>
        </p:txBody>
      </p:sp>
      <p:sp>
        <p:nvSpPr>
          <p:cNvPr id="3" name="Timeline"/>
          <p:cNvSpPr/>
          <p:nvPr/>
        </p:nvSpPr>
        <p:spPr>
          <a:xfrm>
            <a:off x="1005840" y="2331720"/>
            <a:ext cx="10241280" cy="0"/>
          </a:xfrm>
          <a:prstGeom prst="line">
            <a:avLst/>
          </a:prstGeom>
          <a:noFill/>
          <a:ln w="38100">
            <a:solidFill>
              <a:srgbClr val="CBD5E1"/>
            </a:solidFill>
            <a:prstDash val="solid"/>
          </a:ln>
        </p:spPr>
      </p:sp>
      <p:sp>
        <p:nvSpPr>
          <p:cNvPr id="4" name="Timeline dot 1"/>
          <p:cNvSpPr/>
          <p:nvPr/>
        </p:nvSpPr>
        <p:spPr>
          <a:xfrm>
            <a:off x="822960" y="2103120"/>
            <a:ext cx="457200" cy="457200"/>
          </a:xfrm>
          <a:prstGeom prst="ellipse">
            <a:avLst/>
          </a:prstGeom>
          <a:solidFill>
            <a:schemeClr val="accent2"/>
          </a:solidFill>
          <a:ln w="25400">
            <a:solidFill>
              <a:srgbClr val="FFFFFF"/>
            </a:solidFill>
            <a:prstDash val="solid"/>
          </a:ln>
        </p:spPr>
      </p:sp>
      <p:sp>
        <p:nvSpPr>
          <p:cNvPr id="5" name="Text 3"/>
          <p:cNvSpPr txBox="1"/>
          <p:nvPr/>
        </p:nvSpPr>
        <p:spPr>
          <a:xfrm>
            <a:off x="777240" y="1417320"/>
            <a:ext cx="2651760" cy="457200"/>
          </a:xfrm>
          <a:prstGeom prst="rect">
            <a:avLst/>
          </a:prstGeom>
          <a:noFill/>
          <a:ln/>
        </p:spPr>
        <p:txBody>
          <a:bodyPr wrap="square" lIns="0" tIns="0" rIns="0" bIns="0" rtlCol="0" anchor="ctr"/>
          <a:lstStyle/>
          <a:p>
            <a:pPr indent="0" marL="0">
              <a:buNone/>
            </a:pPr>
            <a:r>
              <a:rPr lang="en-US" sz="1800" b="1" dirty="0">
                <a:solidFill>
                  <a:schemeClr val="tx2"/>
                </a:solidFill>
              </a:rPr>
              <a:t>Mar 2024</a:t>
            </a:r>
            <a:endParaRPr lang="en-US" sz="1800" dirty="0"/>
          </a:p>
        </p:txBody>
      </p:sp>
      <p:sp>
        <p:nvSpPr>
          <p:cNvPr id="6" name="Text 4"/>
          <p:cNvSpPr txBox="1"/>
          <p:nvPr/>
        </p:nvSpPr>
        <p:spPr>
          <a:xfrm>
            <a:off x="777240" y="2743200"/>
            <a:ext cx="2560320" cy="914400"/>
          </a:xfrm>
          <a:prstGeom prst="rect">
            <a:avLst/>
          </a:prstGeom>
          <a:noFill/>
          <a:ln/>
        </p:spPr>
        <p:txBody>
          <a:bodyPr wrap="square" lIns="0" tIns="0" rIns="0" bIns="0" rtlCol="0" anchor="t"/>
          <a:lstStyle/>
          <a:p>
            <a:pPr indent="0" marL="0">
              <a:buNone/>
            </a:pPr>
            <a:r>
              <a:rPr lang="en-US" sz="1400" dirty="0">
                <a:solidFill>
                  <a:schemeClr val="tx1"/>
                </a:solidFill>
              </a:rPr>
              <a:t>BoJ ends new ETF purchases</a:t>
            </a:r>
            <a:endParaRPr lang="en-US" sz="1400" dirty="0"/>
          </a:p>
        </p:txBody>
      </p:sp>
      <p:sp>
        <p:nvSpPr>
          <p:cNvPr id="7" name="Timeline dot 2"/>
          <p:cNvSpPr/>
          <p:nvPr/>
        </p:nvSpPr>
        <p:spPr>
          <a:xfrm>
            <a:off x="3657600" y="2103120"/>
            <a:ext cx="457200" cy="457200"/>
          </a:xfrm>
          <a:prstGeom prst="ellipse">
            <a:avLst/>
          </a:prstGeom>
          <a:solidFill>
            <a:schemeClr val="accent2"/>
          </a:solidFill>
          <a:ln w="25400">
            <a:solidFill>
              <a:srgbClr val="FFFFFF"/>
            </a:solidFill>
            <a:prstDash val="solid"/>
          </a:ln>
        </p:spPr>
      </p:sp>
      <p:sp>
        <p:nvSpPr>
          <p:cNvPr id="8" name="Text 6"/>
          <p:cNvSpPr txBox="1"/>
          <p:nvPr/>
        </p:nvSpPr>
        <p:spPr>
          <a:xfrm>
            <a:off x="3611880" y="1417320"/>
            <a:ext cx="2651760" cy="457200"/>
          </a:xfrm>
          <a:prstGeom prst="rect">
            <a:avLst/>
          </a:prstGeom>
          <a:noFill/>
          <a:ln/>
        </p:spPr>
        <p:txBody>
          <a:bodyPr wrap="square" lIns="0" tIns="0" rIns="0" bIns="0" rtlCol="0" anchor="ctr"/>
          <a:lstStyle/>
          <a:p>
            <a:pPr indent="0" marL="0">
              <a:buNone/>
            </a:pPr>
            <a:r>
              <a:rPr lang="en-US" sz="1800" b="1" dirty="0">
                <a:solidFill>
                  <a:schemeClr val="tx2"/>
                </a:solidFill>
              </a:rPr>
              <a:t>Sep 2025</a:t>
            </a:r>
            <a:endParaRPr lang="en-US" sz="1800" dirty="0"/>
          </a:p>
        </p:txBody>
      </p:sp>
      <p:sp>
        <p:nvSpPr>
          <p:cNvPr id="9" name="Text 7"/>
          <p:cNvSpPr txBox="1"/>
          <p:nvPr/>
        </p:nvSpPr>
        <p:spPr>
          <a:xfrm>
            <a:off x="3611880" y="2743200"/>
            <a:ext cx="2560320" cy="914400"/>
          </a:xfrm>
          <a:prstGeom prst="rect">
            <a:avLst/>
          </a:prstGeom>
          <a:noFill/>
          <a:ln/>
        </p:spPr>
        <p:txBody>
          <a:bodyPr wrap="square" lIns="0" tIns="0" rIns="0" bIns="0" rtlCol="0" anchor="t"/>
          <a:lstStyle/>
          <a:p>
            <a:pPr indent="0" marL="0">
              <a:buNone/>
            </a:pPr>
            <a:r>
              <a:rPr lang="en-US" sz="1400" dirty="0">
                <a:solidFill>
                  <a:schemeClr val="tx1"/>
                </a:solidFill>
              </a:rPr>
              <a:t>Decides to sell ≈ ¥330bn a year (book value), ≈0.05% of turnover</a:t>
            </a:r>
            <a:endParaRPr lang="en-US" sz="1400" dirty="0"/>
          </a:p>
        </p:txBody>
      </p:sp>
      <p:sp>
        <p:nvSpPr>
          <p:cNvPr id="10" name="Timeline dot 3"/>
          <p:cNvSpPr/>
          <p:nvPr/>
        </p:nvSpPr>
        <p:spPr>
          <a:xfrm>
            <a:off x="6492240" y="2103120"/>
            <a:ext cx="457200" cy="457200"/>
          </a:xfrm>
          <a:prstGeom prst="ellipse">
            <a:avLst/>
          </a:prstGeom>
          <a:solidFill>
            <a:schemeClr val="accent2"/>
          </a:solidFill>
          <a:ln w="25400">
            <a:solidFill>
              <a:srgbClr val="FFFFFF"/>
            </a:solidFill>
            <a:prstDash val="solid"/>
          </a:ln>
        </p:spPr>
      </p:sp>
      <p:sp>
        <p:nvSpPr>
          <p:cNvPr id="11" name="Text 9"/>
          <p:cNvSpPr txBox="1"/>
          <p:nvPr/>
        </p:nvSpPr>
        <p:spPr>
          <a:xfrm>
            <a:off x="6446520" y="1417320"/>
            <a:ext cx="2651760" cy="457200"/>
          </a:xfrm>
          <a:prstGeom prst="rect">
            <a:avLst/>
          </a:prstGeom>
          <a:noFill/>
          <a:ln/>
        </p:spPr>
        <p:txBody>
          <a:bodyPr wrap="square" lIns="0" tIns="0" rIns="0" bIns="0" rtlCol="0" anchor="ctr"/>
          <a:lstStyle/>
          <a:p>
            <a:pPr indent="0" marL="0">
              <a:buNone/>
            </a:pPr>
            <a:r>
              <a:rPr lang="en-US" sz="1800" b="1" dirty="0">
                <a:solidFill>
                  <a:schemeClr val="tx2"/>
                </a:solidFill>
              </a:rPr>
              <a:t>Jan 2026</a:t>
            </a:r>
            <a:endParaRPr lang="en-US" sz="1800" dirty="0"/>
          </a:p>
        </p:txBody>
      </p:sp>
      <p:sp>
        <p:nvSpPr>
          <p:cNvPr id="12" name="Text 10"/>
          <p:cNvSpPr txBox="1"/>
          <p:nvPr/>
        </p:nvSpPr>
        <p:spPr>
          <a:xfrm>
            <a:off x="6446520" y="2743200"/>
            <a:ext cx="2560320" cy="914400"/>
          </a:xfrm>
          <a:prstGeom prst="rect">
            <a:avLst/>
          </a:prstGeom>
          <a:noFill/>
          <a:ln/>
        </p:spPr>
        <p:txBody>
          <a:bodyPr wrap="square" lIns="0" tIns="0" rIns="0" bIns="0" rtlCol="0" anchor="t"/>
          <a:lstStyle/>
          <a:p>
            <a:pPr indent="0" marL="0">
              <a:buNone/>
            </a:pPr>
            <a:r>
              <a:rPr lang="en-US" sz="1400" dirty="0">
                <a:solidFill>
                  <a:schemeClr val="tx1"/>
                </a:solidFill>
              </a:rPr>
              <a:t>Sales begin; full exit would take over a century</a:t>
            </a:r>
            <a:endParaRPr lang="en-US" sz="1400" dirty="0"/>
          </a:p>
        </p:txBody>
      </p:sp>
      <p:sp>
        <p:nvSpPr>
          <p:cNvPr id="13" name="Timeline dot 4"/>
          <p:cNvSpPr/>
          <p:nvPr/>
        </p:nvSpPr>
        <p:spPr>
          <a:xfrm>
            <a:off x="9326880" y="2103120"/>
            <a:ext cx="457200" cy="457200"/>
          </a:xfrm>
          <a:prstGeom prst="ellipse">
            <a:avLst/>
          </a:prstGeom>
          <a:solidFill>
            <a:schemeClr val="accent1"/>
          </a:solidFill>
          <a:ln w="25400">
            <a:solidFill>
              <a:srgbClr val="FFFFFF"/>
            </a:solidFill>
            <a:prstDash val="solid"/>
          </a:ln>
        </p:spPr>
      </p:sp>
      <p:sp>
        <p:nvSpPr>
          <p:cNvPr id="14" name="Text 12"/>
          <p:cNvSpPr txBox="1"/>
          <p:nvPr/>
        </p:nvSpPr>
        <p:spPr>
          <a:xfrm>
            <a:off x="9281160" y="1417320"/>
            <a:ext cx="2651760" cy="457200"/>
          </a:xfrm>
          <a:prstGeom prst="rect">
            <a:avLst/>
          </a:prstGeom>
          <a:noFill/>
          <a:ln/>
        </p:spPr>
        <p:txBody>
          <a:bodyPr wrap="square" lIns="0" tIns="0" rIns="0" bIns="0" rtlCol="0" anchor="ctr"/>
          <a:lstStyle/>
          <a:p>
            <a:pPr indent="0" marL="0">
              <a:buNone/>
            </a:pPr>
            <a:r>
              <a:rPr lang="en-US" sz="1800" b="1" dirty="0">
                <a:solidFill>
                  <a:schemeClr val="tx2"/>
                </a:solidFill>
              </a:rPr>
              <a:t>Aug 2026</a:t>
            </a:r>
            <a:endParaRPr lang="en-US" sz="1800" dirty="0"/>
          </a:p>
        </p:txBody>
      </p:sp>
      <p:sp>
        <p:nvSpPr>
          <p:cNvPr id="15" name="Text 13"/>
          <p:cNvSpPr txBox="1"/>
          <p:nvPr/>
        </p:nvSpPr>
        <p:spPr>
          <a:xfrm>
            <a:off x="9281160" y="2743200"/>
            <a:ext cx="2560320" cy="914400"/>
          </a:xfrm>
          <a:prstGeom prst="rect">
            <a:avLst/>
          </a:prstGeom>
          <a:noFill/>
          <a:ln/>
        </p:spPr>
        <p:txBody>
          <a:bodyPr wrap="square" lIns="0" tIns="0" rIns="0" bIns="0" rtlCol="0" anchor="t"/>
          <a:lstStyle/>
          <a:p>
            <a:pPr indent="0" marL="0">
              <a:buNone/>
            </a:pPr>
            <a:r>
              <a:rPr lang="en-US" sz="1400" dirty="0">
                <a:solidFill>
                  <a:schemeClr val="tx1"/>
                </a:solidFill>
              </a:rPr>
              <a:t>Global ETF assets reach a record $24.0trn</a:t>
            </a:r>
            <a:endParaRPr lang="en-US" sz="1400" dirty="0"/>
          </a:p>
        </p:txBody>
      </p:sp>
      <p:sp>
        <p:nvSpPr>
          <p:cNvPr id="16" name="Implication card"/>
          <p:cNvSpPr/>
          <p:nvPr/>
        </p:nvSpPr>
        <p:spPr>
          <a:xfrm>
            <a:off x="548640" y="4069080"/>
            <a:ext cx="11094415" cy="1783080"/>
          </a:xfrm>
          <a:prstGeom prst="roundRect">
            <a:avLst>
              <a:gd name="adj" fmla="val 6154"/>
            </a:avLst>
          </a:prstGeom>
          <a:solidFill>
            <a:schemeClr val="bg2"/>
          </a:solidFill>
          <a:ln w="12700">
            <a:solidFill>
              <a:schemeClr val="bg2"/>
            </a:solidFill>
            <a:prstDash val="solid"/>
          </a:ln>
        </p:spPr>
      </p:sp>
      <p:sp>
        <p:nvSpPr>
          <p:cNvPr id="17" name="Text 15"/>
          <p:cNvSpPr txBox="1"/>
          <p:nvPr/>
        </p:nvSpPr>
        <p:spPr>
          <a:xfrm>
            <a:off x="868680" y="4206240"/>
            <a:ext cx="10454335" cy="1554480"/>
          </a:xfrm>
          <a:prstGeom prst="rect">
            <a:avLst/>
          </a:prstGeom>
          <a:noFill/>
          <a:ln/>
        </p:spPr>
        <p:txBody>
          <a:bodyPr wrap="square" lIns="0" tIns="0" rIns="0" bIns="0" rtlCol="0" anchor="ctr"/>
          <a:lstStyle/>
          <a:p>
            <a:pPr indent="0" marL="0">
              <a:buNone/>
            </a:pPr>
            <a:r>
              <a:rPr lang="en-US" sz="1500" b="1" dirty="0">
                <a:solidFill>
                  <a:srgbClr val="14213D"/>
                </a:solidFill>
              </a:rPr>
              <a:t>Why it matters for the paper: </a:t>
            </a:r>
            <a:pPr indent="0" marL="0">
              <a:buNone/>
            </a:pPr>
            <a:r>
              <a:rPr lang="en-US" sz="1500" dirty="0">
                <a:solidFill>
                  <a:schemeClr val="tx1"/>
                </a:solidFill>
              </a:rPr>
              <a:t>the redemption side it could not test is now live, but at ≈0.05% of turnover the paper's logic predicts negligible effects on stocks.</a:t>
            </a:r>
            <a:endParaRPr lang="en-US" sz="1500" dirty="0"/>
          </a:p>
          <a:p>
            <a:pPr indent="0" marL="0">
              <a:buNone/>
            </a:pPr>
            <a:r>
              <a:rPr lang="en-US" sz="1500" b="1" dirty="0">
                <a:solidFill>
                  <a:srgbClr val="14213D"/>
                </a:solidFill>
              </a:rPr>
              <a:t>In our notebook: </a:t>
            </a:r>
            <a:pPr indent="0" marL="0">
              <a:buNone/>
            </a:pPr>
            <a:r>
              <a:rPr lang="en-US" sz="1500" dirty="0">
                <a:solidFill>
                  <a:schemeClr val="tx1"/>
                </a:solidFill>
              </a:rPr>
              <a:t>real-data modules for Colab (a dose–response test across BoJ regimes, with a 2021–24 placebo, and a tick-size-controlled trend) ready to run on BoJ statistics and Yahoo Finance data.</a:t>
            </a:r>
            <a:endParaRPr lang="en-US" sz="15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Takeaways</a:t>
            </a:r>
            <a:endParaRPr lang="en-US" sz="3200" dirty="0"/>
          </a:p>
        </p:txBody>
      </p:sp>
      <p:sp>
        <p:nvSpPr>
          <p:cNvPr id="3" name="Number 1"/>
          <p:cNvSpPr/>
          <p:nvPr/>
        </p:nvSpPr>
        <p:spPr>
          <a:xfrm>
            <a:off x="548640" y="1508760"/>
            <a:ext cx="640080" cy="640080"/>
          </a:xfrm>
          <a:prstGeom prst="ellipse">
            <a:avLst/>
          </a:prstGeom>
          <a:solidFill>
            <a:schemeClr val="accent2"/>
          </a:solidFill>
          <a:ln w="12700">
            <a:solidFill>
              <a:srgbClr val="EB6834"/>
            </a:solidFill>
            <a:prstDash val="solid"/>
          </a:ln>
        </p:spPr>
      </p:sp>
      <p:sp>
        <p:nvSpPr>
          <p:cNvPr id="4" name="Text 2"/>
          <p:cNvSpPr txBox="1"/>
          <p:nvPr/>
        </p:nvSpPr>
        <p:spPr>
          <a:xfrm>
            <a:off x="548640" y="15087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Text 3"/>
          <p:cNvSpPr txBox="1"/>
          <p:nvPr/>
        </p:nvSpPr>
        <p:spPr>
          <a:xfrm>
            <a:off x="1463040" y="1463040"/>
            <a:ext cx="10180015" cy="777240"/>
          </a:xfrm>
          <a:prstGeom prst="rect">
            <a:avLst/>
          </a:prstGeom>
          <a:noFill/>
          <a:ln/>
        </p:spPr>
        <p:txBody>
          <a:bodyPr wrap="square" lIns="0" tIns="0" rIns="0" bIns="0" rtlCol="0" anchor="ctr"/>
          <a:lstStyle/>
          <a:p>
            <a:pPr indent="0" marL="0">
              <a:buNone/>
            </a:pPr>
            <a:r>
              <a:rPr lang="en-US" sz="1800" dirty="0">
                <a:solidFill>
                  <a:schemeClr val="bg1"/>
                </a:solidFill>
              </a:rPr>
              <a:t>ETF arbitrage is rare (32% of days) and small (13% of volume); HFTs carry the trading and do not arbitrage</a:t>
            </a:r>
            <a:endParaRPr lang="en-US" sz="1800" dirty="0"/>
          </a:p>
        </p:txBody>
      </p:sp>
      <p:sp>
        <p:nvSpPr>
          <p:cNvPr id="6" name="Number 2"/>
          <p:cNvSpPr/>
          <p:nvPr/>
        </p:nvSpPr>
        <p:spPr>
          <a:xfrm>
            <a:off x="548640" y="2606040"/>
            <a:ext cx="640080" cy="640080"/>
          </a:xfrm>
          <a:prstGeom prst="ellipse">
            <a:avLst/>
          </a:prstGeom>
          <a:solidFill>
            <a:schemeClr val="accent2"/>
          </a:solidFill>
          <a:ln w="12700">
            <a:solidFill>
              <a:srgbClr val="EB6834"/>
            </a:solidFill>
            <a:prstDash val="solid"/>
          </a:ln>
        </p:spPr>
      </p:sp>
      <p:sp>
        <p:nvSpPr>
          <p:cNvPr id="7" name="Text 5"/>
          <p:cNvSpPr txBox="1"/>
          <p:nvPr/>
        </p:nvSpPr>
        <p:spPr>
          <a:xfrm>
            <a:off x="548640" y="26060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8" name="Text 6"/>
          <p:cNvSpPr txBox="1"/>
          <p:nvPr/>
        </p:nvSpPr>
        <p:spPr>
          <a:xfrm>
            <a:off x="1463040" y="2560320"/>
            <a:ext cx="10180015" cy="777240"/>
          </a:xfrm>
          <a:prstGeom prst="rect">
            <a:avLst/>
          </a:prstGeom>
          <a:noFill/>
          <a:ln/>
        </p:spPr>
        <p:txBody>
          <a:bodyPr wrap="square" lIns="0" tIns="0" rIns="0" bIns="0" rtlCol="0" anchor="ctr"/>
          <a:lstStyle/>
          <a:p>
            <a:pPr indent="0" marL="0">
              <a:buNone/>
            </a:pPr>
            <a:r>
              <a:rPr lang="en-US" sz="1800" dirty="0">
                <a:solidFill>
                  <a:schemeClr val="bg1"/>
                </a:solidFill>
              </a:rPr>
              <a:t>Arbitrage goes with worse market quality in overweighted stocks; HFT activity goes with narrower spreads</a:t>
            </a:r>
            <a:endParaRPr lang="en-US" sz="1800" dirty="0"/>
          </a:p>
        </p:txBody>
      </p:sp>
      <p:sp>
        <p:nvSpPr>
          <p:cNvPr id="9" name="Number 3"/>
          <p:cNvSpPr/>
          <p:nvPr/>
        </p:nvSpPr>
        <p:spPr>
          <a:xfrm>
            <a:off x="548640" y="3703320"/>
            <a:ext cx="640080" cy="640080"/>
          </a:xfrm>
          <a:prstGeom prst="ellipse">
            <a:avLst/>
          </a:prstGeom>
          <a:solidFill>
            <a:schemeClr val="accent2"/>
          </a:solidFill>
          <a:ln w="12700">
            <a:solidFill>
              <a:srgbClr val="EB6834"/>
            </a:solidFill>
            <a:prstDash val="solid"/>
          </a:ln>
        </p:spPr>
      </p:sp>
      <p:sp>
        <p:nvSpPr>
          <p:cNvPr id="10" name="Text 8"/>
          <p:cNvSpPr txBox="1"/>
          <p:nvPr/>
        </p:nvSpPr>
        <p:spPr>
          <a:xfrm>
            <a:off x="548640" y="37033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1" name="Text 9"/>
          <p:cNvSpPr txBox="1"/>
          <p:nvPr/>
        </p:nvSpPr>
        <p:spPr>
          <a:xfrm>
            <a:off x="1463040" y="3657600"/>
            <a:ext cx="10180015" cy="777240"/>
          </a:xfrm>
          <a:prstGeom prst="rect">
            <a:avLst/>
          </a:prstGeom>
          <a:noFill/>
          <a:ln/>
        </p:spPr>
        <p:txBody>
          <a:bodyPr wrap="square" lIns="0" tIns="0" rIns="0" bIns="0" rtlCol="0" anchor="ctr"/>
          <a:lstStyle/>
          <a:p>
            <a:pPr indent="0" marL="0">
              <a:buNone/>
            </a:pPr>
            <a:r>
              <a:rPr lang="en-US" sz="1800" dirty="0">
                <a:solidFill>
                  <a:schemeClr val="bg1"/>
                </a:solidFill>
              </a:rPr>
              <a:t>The BoJ experiment shows the arbitrage damage is causal, but local and transitory</a:t>
            </a:r>
            <a:endParaRPr lang="en-US" sz="1800" dirty="0"/>
          </a:p>
        </p:txBody>
      </p:sp>
      <p:sp>
        <p:nvSpPr>
          <p:cNvPr id="12" name="Number 4"/>
          <p:cNvSpPr/>
          <p:nvPr/>
        </p:nvSpPr>
        <p:spPr>
          <a:xfrm>
            <a:off x="548640" y="4800600"/>
            <a:ext cx="640080" cy="640080"/>
          </a:xfrm>
          <a:prstGeom prst="ellipse">
            <a:avLst/>
          </a:prstGeom>
          <a:solidFill>
            <a:schemeClr val="accent2"/>
          </a:solidFill>
          <a:ln w="12700">
            <a:solidFill>
              <a:srgbClr val="EB6834"/>
            </a:solidFill>
            <a:prstDash val="solid"/>
          </a:ln>
        </p:spPr>
      </p:sp>
      <p:sp>
        <p:nvSpPr>
          <p:cNvPr id="13" name="Text 11"/>
          <p:cNvSpPr txBox="1"/>
          <p:nvPr/>
        </p:nvSpPr>
        <p:spPr>
          <a:xfrm>
            <a:off x="548640" y="48006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4" name="Text 12"/>
          <p:cNvSpPr txBox="1"/>
          <p:nvPr/>
        </p:nvSpPr>
        <p:spPr>
          <a:xfrm>
            <a:off x="1463040" y="4754880"/>
            <a:ext cx="10180015" cy="777240"/>
          </a:xfrm>
          <a:prstGeom prst="rect">
            <a:avLst/>
          </a:prstGeom>
          <a:noFill/>
          <a:ln/>
        </p:spPr>
        <p:txBody>
          <a:bodyPr wrap="square" lIns="0" tIns="0" rIns="0" bIns="0" rtlCol="0" anchor="ctr"/>
          <a:lstStyle/>
          <a:p>
            <a:pPr indent="0" marL="0">
              <a:buNone/>
            </a:pPr>
            <a:r>
              <a:rPr lang="en-US" sz="1800" dirty="0">
                <a:solidFill>
                  <a:schemeClr val="bg1"/>
                </a:solidFill>
              </a:rPr>
              <a:t>Our simulations confirm the design can detect both channels; the long-run claim still needs a cleaner test</a:t>
            </a:r>
            <a:endParaRPr lang="en-US" sz="1800" dirty="0"/>
          </a:p>
        </p:txBody>
      </p:sp>
      <p:sp>
        <p:nvSpPr>
          <p:cNvPr id="15" name="Text 13"/>
          <p:cNvSpPr txBox="1"/>
          <p:nvPr/>
        </p:nvSpPr>
        <p:spPr>
          <a:xfrm>
            <a:off x="548640" y="5989320"/>
            <a:ext cx="11094415" cy="365760"/>
          </a:xfrm>
          <a:prstGeom prst="rect">
            <a:avLst/>
          </a:prstGeom>
          <a:noFill/>
          <a:ln/>
        </p:spPr>
        <p:txBody>
          <a:bodyPr wrap="square" lIns="0" tIns="0" rIns="0" bIns="0" rtlCol="0" anchor="ctr"/>
          <a:lstStyle/>
          <a:p>
            <a:pPr indent="0" marL="0">
              <a:buNone/>
            </a:pPr>
            <a:r>
              <a:rPr lang="en-US" sz="1200" dirty="0">
                <a:solidFill>
                  <a:srgbClr val="AFC3E0"/>
                </a:solidFill>
              </a:rPr>
              <a:t>Notebook: github.com/Mnntn/Finances → ETF_effects_The_role_of_primary_versus_secondary_market_activities/etf_effects.ipynb</a:t>
            </a:r>
            <a:endParaRPr lang="en-US" sz="12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C3E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References</a:t>
            </a:r>
            <a:endParaRPr lang="en-US" sz="3200" dirty="0"/>
          </a:p>
        </p:txBody>
      </p:sp>
      <p:sp>
        <p:nvSpPr>
          <p:cNvPr id="3" name="Text 1"/>
          <p:cNvSpPr txBox="1"/>
          <p:nvPr/>
        </p:nvSpPr>
        <p:spPr>
          <a:xfrm>
            <a:off x="548640" y="1325880"/>
            <a:ext cx="11094415" cy="4846320"/>
          </a:xfrm>
          <a:prstGeom prst="rect">
            <a:avLst/>
          </a:prstGeom>
          <a:noFill/>
          <a:ln/>
        </p:spPr>
        <p:txBody>
          <a:bodyPr wrap="square" lIns="0" tIns="0" rIns="0" bIns="0" rtlCol="0" anchor="t"/>
          <a:lstStyle/>
          <a:p>
            <a:pPr indent="0" marL="0">
              <a:spcAft>
                <a:spcPts val="800"/>
              </a:spcAft>
              <a:buNone/>
            </a:pPr>
            <a:r>
              <a:rPr lang="en-US" sz="1400" dirty="0">
                <a:solidFill>
                  <a:schemeClr val="tx1"/>
                </a:solidFill>
              </a:rPr>
              <a:t>Comerton-Forde, C., Marta, T. (2025). ETF effects: The role of primary versus secondary market activities. Journal of Financial Markets 75, 100983.</a:t>
            </a:r>
            <a:endParaRPr lang="en-US" sz="1400" dirty="0"/>
          </a:p>
          <a:p>
            <a:pPr indent="0" marL="0">
              <a:spcAft>
                <a:spcPts val="800"/>
              </a:spcAft>
              <a:buNone/>
            </a:pPr>
            <a:r>
              <a:rPr lang="en-US" sz="1400" dirty="0">
                <a:solidFill>
                  <a:schemeClr val="tx1"/>
                </a:solidFill>
              </a:rPr>
              <a:t>Ben-David, I., Franzoni, F., Moussawi, R. (2018). Do ETFs increase volatility? Journal of Finance 73, 2471–2535.</a:t>
            </a:r>
            <a:endParaRPr lang="en-US" sz="1400" dirty="0"/>
          </a:p>
          <a:p>
            <a:pPr indent="0" marL="0">
              <a:spcAft>
                <a:spcPts val="800"/>
              </a:spcAft>
              <a:buNone/>
            </a:pPr>
            <a:r>
              <a:rPr lang="en-US" sz="1400" dirty="0">
                <a:solidFill>
                  <a:schemeClr val="tx1"/>
                </a:solidFill>
              </a:rPr>
              <a:t>Malamud, S. (2015). A dynamic equilibrium model of ETFs. Swiss Finance Institute Research Paper 15-37.</a:t>
            </a:r>
            <a:endParaRPr lang="en-US" sz="1400" dirty="0"/>
          </a:p>
          <a:p>
            <a:pPr indent="0" marL="0">
              <a:spcAft>
                <a:spcPts val="800"/>
              </a:spcAft>
              <a:buNone/>
            </a:pPr>
            <a:r>
              <a:rPr lang="en-US" sz="1400" dirty="0">
                <a:solidFill>
                  <a:schemeClr val="tx1"/>
                </a:solidFill>
              </a:rPr>
              <a:t>Charoenwong, B., Morck, R., Wiwattanakantang, Y. (2021). Bank of Japan equity purchases: The (non-)effects of extreme quantitative easing. Review of Finance 25, 713–743.</a:t>
            </a:r>
            <a:endParaRPr lang="en-US" sz="1400" dirty="0"/>
          </a:p>
          <a:p>
            <a:pPr indent="0" marL="0">
              <a:spcAft>
                <a:spcPts val="800"/>
              </a:spcAft>
              <a:buNone/>
            </a:pPr>
            <a:r>
              <a:rPr lang="en-US" sz="1400" dirty="0">
                <a:solidFill>
                  <a:schemeClr val="tx1"/>
                </a:solidFill>
              </a:rPr>
              <a:t>Shleifer, A., Vishny, R. (1997). The limits of arbitrage. Journal of Finance 52, 35–55.</a:t>
            </a:r>
            <a:endParaRPr lang="en-US" sz="1400" dirty="0"/>
          </a:p>
          <a:p>
            <a:pPr indent="0" marL="0">
              <a:spcAft>
                <a:spcPts val="800"/>
              </a:spcAft>
              <a:buNone/>
            </a:pPr>
            <a:r>
              <a:rPr lang="en-US" sz="1400" dirty="0">
                <a:solidFill>
                  <a:schemeClr val="tx1"/>
                </a:solidFill>
              </a:rPr>
              <a:t>Ardia, D., Guidotti, E., Kroencke, T. (2024). Efficient estimation of bid–ask spreads from open, high, low, and close prices. Journal of Financial Economics 161, 103916.</a:t>
            </a:r>
            <a:endParaRPr lang="en-US" sz="1400" dirty="0"/>
          </a:p>
          <a:p>
            <a:pPr indent="0" marL="0">
              <a:spcAft>
                <a:spcPts val="800"/>
              </a:spcAft>
              <a:buNone/>
            </a:pPr>
            <a:r>
              <a:rPr lang="en-US" sz="1400" dirty="0">
                <a:solidFill>
                  <a:schemeClr val="tx1"/>
                </a:solidFill>
              </a:rPr>
              <a:t>Cameron, A.C., Gelbach, J., Miller, D. (2011). Robust inference with multiway clustering. Journal of Business &amp; Economic Statistics 29, 238–249.</a:t>
            </a:r>
            <a:endParaRPr lang="en-US" sz="1400" dirty="0"/>
          </a:p>
          <a:p>
            <a:pPr indent="0" marL="0">
              <a:spcAft>
                <a:spcPts val="800"/>
              </a:spcAft>
              <a:buNone/>
            </a:pPr>
            <a:r>
              <a:rPr lang="en-US" sz="1400" dirty="0">
                <a:solidFill>
                  <a:schemeClr val="tx1"/>
                </a:solidFill>
              </a:rPr>
              <a:t>ETFGI (Sep 2026), global ETF industry assets; Bank of Japan, statement on monetary policy (19 Sep 2025).</a:t>
            </a:r>
            <a:endParaRPr lang="en-US" sz="1400" dirty="0"/>
          </a:p>
        </p:txBody>
      </p:sp>
      <p:sp>
        <p:nvSpPr>
          <p:cNvPr id="25" name="Slide Number Placeholder 0"/>
          <p:cNvSpPr>
            <a:spLocks noGrp="1"/>
          </p:cNvSpPr>
          <p:nvPr>
            <p:ph type="sldNum" sz="quarter" idx="4294967295"/>
          </p:nvPr>
        </p:nvSpPr>
        <p:spPr>
          <a:xfrm>
            <a:off x="111099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ETF Effects">
  <a:themeElements>
    <a:clrScheme name="ETF Effects">
      <a:dk1>
        <a:srgbClr val="1B1F2A"/>
      </a:dk1>
      <a:lt1>
        <a:srgbClr val="FFFFFF"/>
      </a:lt1>
      <a:dk2>
        <a:srgbClr val="14213D"/>
      </a:dk2>
      <a:lt2>
        <a:srgbClr val="EEF2F8"/>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ETF Effec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ETF effects: primary vs. secondary market activities</dc:title>
  <dc:subject>Paper review and replication: Comerton-Forde &amp; Marta (2025), Journal of Financial Markets 75</dc:subject>
  <dc:creator>Mnntn</dc:creator>
  <cp:lastModifiedBy>Mnntn</cp:lastModifiedBy>
  <cp:revision>1</cp:revision>
  <dcterms:created xsi:type="dcterms:W3CDTF">2026-10-22T14:12:04Z</dcterms:created>
  <dcterms:modified xsi:type="dcterms:W3CDTF">2026-10-22T14:12:04Z</dcterms:modified>
</cp:coreProperties>
</file>